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webextensions/webextension1.xml" ContentType="application/vnd.ms-office.webextension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5"/>
  </p:notesMasterIdLst>
  <p:sldIdLst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56" r:id="rId13"/>
    <p:sldId id="266" r:id="rId14"/>
  </p:sldIdLst>
  <p:sldSz cx="12192000" cy="6858000"/>
  <p:notesSz cx="6858000" cy="9144000"/>
  <p:custDataLst>
    <p:tags r:id="rId1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659A6A-A089-466E-B199-728E62D76EAC}" v="155" dt="2026-01-30T18:29:38.4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E3FDE45-AF77-4B5C-9715-49D594BDF05E}" styleName="Helle Formatvorlage 1 - Akz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51"/>
    <p:restoredTop sz="94647"/>
  </p:normalViewPr>
  <p:slideViewPr>
    <p:cSldViewPr snapToGrid="0" snapToObjects="1">
      <p:cViewPr varScale="1">
        <p:scale>
          <a:sx n="102" d="100"/>
          <a:sy n="102" d="100"/>
        </p:scale>
        <p:origin x="79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tags" Target="tags/tag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8604D7-B149-4CBE-B78F-4BADEB5073F2}" type="datetimeFigureOut">
              <a:rPr lang="de-DE" smtClean="0"/>
              <a:t>30.01.2026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5D733F-C062-43F8-A268-64F0CEE536B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1060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052B1-BD61-421F-A1DA-FDD7F43536D7}" type="datetime1">
              <a:rPr lang="de-DE" smtClean="0"/>
              <a:t>30.01.2026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30.01.2026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38205-406A-4507-9625-45CB6BE1106E}" type="datetime1">
              <a:rPr lang="de-DE" smtClean="0"/>
              <a:t>30.01.2026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5A8128-4535-4048-83F7-BDA6F1969AC1}" type="datetime1">
              <a:rPr lang="de-DE" smtClean="0"/>
              <a:t>30.01.2026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42F379-9101-4C9D-88C3-C7F8A5AF0689}" type="datetime1">
              <a:rPr lang="de-DE" smtClean="0"/>
              <a:t>30.01.2026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5DBDF-0D89-4019-8FD6-4FC0A4BF2CB6}" type="datetime1">
              <a:rPr lang="de-DE" smtClean="0"/>
              <a:t>30.01.2026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A35928-6455-4327-9B81-75CC8615A8CE}" type="datetime1">
              <a:rPr lang="de-DE" smtClean="0"/>
              <a:t>30.01.2026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A4E6B-3535-47A9-9B19-077E52398501}" type="datetime1">
              <a:rPr lang="de-DE" smtClean="0"/>
              <a:t>30.01.2026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1626F-68EC-4B02-AD8D-2E5F851E62A0}" type="datetime1">
              <a:rPr lang="de-DE" smtClean="0"/>
              <a:t>30.01.2026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6BEBE4-4FCC-4EA8-BDD5-5B3DAC9ABBD4}" type="datetime1">
              <a:rPr lang="de-DE" smtClean="0"/>
              <a:t>30.01.2026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9CD70-EED3-455B-8CC4-948292EB368F}" type="datetime1">
              <a:rPr lang="de-DE" smtClean="0"/>
              <a:t>30.01.2026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3B0A0C-0502-4005-9A69-FFD78D14F989}" type="datetime1">
              <a:rPr lang="de-DE" smtClean="0"/>
              <a:t>30.01.2026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nelgiriyewithana/global-weather-repository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4E15DD-9C4F-0CC7-D0F6-284F458C5FF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Abschlussarbeit</a:t>
            </a:r>
            <a:br>
              <a:rPr lang="de-DE" dirty="0"/>
            </a:br>
            <a:r>
              <a:rPr lang="de-DE" dirty="0"/>
              <a:t>MySQL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E703C44-32D3-348B-D278-6E76ED013E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2921310"/>
          </a:xfrm>
        </p:spPr>
        <p:txBody>
          <a:bodyPr/>
          <a:lstStyle/>
          <a:p>
            <a:r>
              <a:rPr lang="de-DE" dirty="0"/>
              <a:t>Im Auftrag von</a:t>
            </a:r>
          </a:p>
          <a:p>
            <a:r>
              <a:rPr lang="de-DE" sz="3200" dirty="0"/>
              <a:t>Data Smart Point GmbH</a:t>
            </a:r>
          </a:p>
          <a:p>
            <a:r>
              <a:rPr lang="de-D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--------------------------------</a:t>
            </a:r>
          </a:p>
          <a:p>
            <a:r>
              <a:rPr lang="de-DE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Frank Wünsch</a:t>
            </a:r>
          </a:p>
          <a:p>
            <a:r>
              <a:rPr lang="de-D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--------------------------------</a:t>
            </a:r>
          </a:p>
          <a:p>
            <a:endParaRPr lang="de-DE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25836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19AA39-FB07-D771-7D7F-D7D7BD185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Inhaltsverzeichnis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1AB562E-750F-6FD7-C819-31966055EA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de-DE" dirty="0"/>
              <a:t>Einführung in den Datensatz</a:t>
            </a:r>
          </a:p>
          <a:p>
            <a:pPr marL="514350" indent="-514350">
              <a:buAutoNum type="arabicPeriod"/>
            </a:pPr>
            <a:r>
              <a:rPr lang="de-DE" dirty="0"/>
              <a:t>Zielsetzung</a:t>
            </a:r>
          </a:p>
          <a:p>
            <a:pPr marL="514350" indent="-514350">
              <a:buAutoNum type="arabicPeriod"/>
            </a:pPr>
            <a:r>
              <a:rPr lang="de-DE" dirty="0"/>
              <a:t>Datenbereinigung</a:t>
            </a:r>
          </a:p>
          <a:p>
            <a:pPr marL="514350" indent="-514350">
              <a:buAutoNum type="arabicPeriod"/>
            </a:pPr>
            <a:r>
              <a:rPr lang="de-DE" dirty="0"/>
              <a:t>Korrelationen</a:t>
            </a:r>
          </a:p>
          <a:p>
            <a:pPr marL="514350" indent="-514350">
              <a:buAutoNum type="arabicPeriod"/>
            </a:pPr>
            <a:r>
              <a:rPr lang="de-DE" dirty="0"/>
              <a:t>Komplexe Abfragen</a:t>
            </a:r>
          </a:p>
          <a:p>
            <a:pPr marL="514350" indent="-514350">
              <a:buAutoNum type="arabicPeriod"/>
            </a:pPr>
            <a:r>
              <a:rPr lang="de-DE" dirty="0"/>
              <a:t>Visualisierung der Ergebnisse</a:t>
            </a:r>
          </a:p>
          <a:p>
            <a:pPr marL="514350" indent="-514350">
              <a:buAutoNum type="arabicPeriod"/>
            </a:pPr>
            <a:r>
              <a:rPr lang="de-DE" dirty="0"/>
              <a:t>Fazit</a:t>
            </a:r>
          </a:p>
          <a:p>
            <a:pPr marL="514350" indent="-514350">
              <a:buAutoNum type="arabicPeriod"/>
            </a:pP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2B24FC-380B-308B-F1D9-ECE89BD3B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D17E4-C383-4D8C-9298-0702EEB52F70}" type="datetime1">
              <a:rPr lang="de-DE" smtClean="0"/>
              <a:t>30.01.2026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46B01CE-8AF0-BE8A-1B8D-FE3BD0DCE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701B2FF-7044-01AB-772D-BB3E18F7E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5931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5CE668-0220-B72E-4F98-1EEC3733B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Einführung in den Datensatz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7311A9-176B-606B-63A6-EE7977ACCB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Quelle</a:t>
            </a:r>
          </a:p>
          <a:p>
            <a:pPr marL="0" indent="0">
              <a:buNone/>
            </a:pPr>
            <a:r>
              <a:rPr lang="de-DE" dirty="0"/>
              <a:t>	Kaggle.com </a:t>
            </a:r>
            <a:r>
              <a:rPr lang="de-DE" dirty="0">
                <a:hlinkClick r:id="rId2"/>
              </a:rPr>
              <a:t>World </a:t>
            </a:r>
            <a:r>
              <a:rPr lang="de-DE" dirty="0" err="1">
                <a:hlinkClick r:id="rId2"/>
              </a:rPr>
              <a:t>Weather</a:t>
            </a:r>
            <a:r>
              <a:rPr lang="de-DE" dirty="0">
                <a:hlinkClick r:id="rId2"/>
              </a:rPr>
              <a:t> Repository</a:t>
            </a:r>
            <a:r>
              <a:rPr lang="de-DE" dirty="0"/>
              <a:t> (tägliche Aktualisierung)</a:t>
            </a:r>
          </a:p>
          <a:p>
            <a:r>
              <a:rPr lang="de-DE" dirty="0"/>
              <a:t>Datenstand (Abrufdatum)</a:t>
            </a:r>
          </a:p>
          <a:p>
            <a:pPr marL="0" indent="0">
              <a:buNone/>
            </a:pPr>
            <a:r>
              <a:rPr lang="de-DE" dirty="0"/>
              <a:t>	Freitag, 23.01.2026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Inhalt</a:t>
            </a:r>
          </a:p>
          <a:p>
            <a:r>
              <a:rPr lang="de-DE" dirty="0"/>
              <a:t>Seit 29. August 2023 tägliche Updates zu Wetter- und Umweltdaten</a:t>
            </a:r>
          </a:p>
          <a:p>
            <a:r>
              <a:rPr lang="de-DE" dirty="0"/>
              <a:t>Vor allem Hauptstädte der Länder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FF86978-5442-2709-7974-F93FE9D6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30.01.2026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818651A-B44A-2B5E-ADDA-6AB745297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4FC2E29-EAFE-0BB2-F912-B611918C1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197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920895-BA5B-D7D7-06E0-843D68E38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Einführung in den Datensatz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7858C8C-DE7F-CB92-1398-408E1BF70E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Wichtigste Spalten (Gesamt: 41 Spalten)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BB0AEE7-854E-4FAE-5CB3-FC72C3C44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30.01.2026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7D62452-91A3-1C47-CE20-E7A1B6DC6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807F153-2EFA-A39D-F998-E00B50909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4</a:t>
            </a:fld>
            <a:endParaRPr lang="en-US"/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A2C4F397-36FB-6315-F021-3001327A83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5209549"/>
              </p:ext>
            </p:extLst>
          </p:nvPr>
        </p:nvGraphicFramePr>
        <p:xfrm>
          <a:off x="838200" y="2388211"/>
          <a:ext cx="10515600" cy="3744593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677998">
                  <a:extLst>
                    <a:ext uri="{9D8B030D-6E8A-4147-A177-3AD203B41FA5}">
                      <a16:colId xmlns:a16="http://schemas.microsoft.com/office/drawing/2014/main" val="1349699990"/>
                    </a:ext>
                  </a:extLst>
                </a:gridCol>
                <a:gridCol w="7837602">
                  <a:extLst>
                    <a:ext uri="{9D8B030D-6E8A-4147-A177-3AD203B41FA5}">
                      <a16:colId xmlns:a16="http://schemas.microsoft.com/office/drawing/2014/main" val="3822429309"/>
                    </a:ext>
                  </a:extLst>
                </a:gridCol>
              </a:tblGrid>
              <a:tr h="294018">
                <a:tc>
                  <a:txBody>
                    <a:bodyPr/>
                    <a:lstStyle/>
                    <a:p>
                      <a:r>
                        <a:rPr lang="de-DE" b="1" dirty="0"/>
                        <a:t>Spaltenname(n)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Information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0005188"/>
                  </a:ext>
                </a:extLst>
              </a:tr>
              <a:tr h="294018">
                <a:tc>
                  <a:txBody>
                    <a:bodyPr/>
                    <a:lstStyle/>
                    <a:p>
                      <a:r>
                        <a:rPr lang="de-DE" b="0" dirty="0"/>
                        <a:t>Country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Land, auf das sich die Messdaten beziehen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8495045"/>
                  </a:ext>
                </a:extLst>
              </a:tr>
              <a:tr h="294018">
                <a:tc>
                  <a:txBody>
                    <a:bodyPr/>
                    <a:lstStyle/>
                    <a:p>
                      <a:r>
                        <a:rPr lang="de-DE" b="0" dirty="0" err="1"/>
                        <a:t>Location_name</a:t>
                      </a:r>
                      <a:endParaRPr lang="de-DE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3774808"/>
                  </a:ext>
                </a:extLst>
              </a:tr>
              <a:tr h="294018">
                <a:tc>
                  <a:txBody>
                    <a:bodyPr/>
                    <a:lstStyle/>
                    <a:p>
                      <a:r>
                        <a:rPr lang="de-DE" b="0" dirty="0"/>
                        <a:t>Latitude, </a:t>
                      </a:r>
                      <a:r>
                        <a:rPr lang="de-DE" b="0" dirty="0" err="1"/>
                        <a:t>Longitude</a:t>
                      </a:r>
                      <a:endParaRPr lang="de-DE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Längen- und Breitengrad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7693577"/>
                  </a:ext>
                </a:extLst>
              </a:tr>
              <a:tr h="294018">
                <a:tc>
                  <a:txBody>
                    <a:bodyPr/>
                    <a:lstStyle/>
                    <a:p>
                      <a:r>
                        <a:rPr lang="de-DE" b="0" dirty="0" err="1"/>
                        <a:t>Wind_kph</a:t>
                      </a:r>
                      <a:endParaRPr lang="de-DE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Windgeschwindigkeit in km/h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8258758"/>
                  </a:ext>
                </a:extLst>
              </a:tr>
              <a:tr h="294018">
                <a:tc>
                  <a:txBody>
                    <a:bodyPr/>
                    <a:lstStyle/>
                    <a:p>
                      <a:r>
                        <a:rPr lang="de-DE" b="0" dirty="0" err="1"/>
                        <a:t>Precip_mm</a:t>
                      </a:r>
                      <a:endParaRPr lang="de-DE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Niederschlagsmenge in mm (1 mm entspricht 1l / m²)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5019933"/>
                  </a:ext>
                </a:extLst>
              </a:tr>
              <a:tr h="294018">
                <a:tc>
                  <a:txBody>
                    <a:bodyPr/>
                    <a:lstStyle/>
                    <a:p>
                      <a:r>
                        <a:rPr lang="de-DE" b="0" dirty="0" err="1"/>
                        <a:t>Humidity</a:t>
                      </a:r>
                      <a:endParaRPr lang="de-DE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Luftfeuchtigkeit in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7500412"/>
                  </a:ext>
                </a:extLst>
              </a:tr>
              <a:tr h="294018">
                <a:tc>
                  <a:txBody>
                    <a:bodyPr/>
                    <a:lstStyle/>
                    <a:p>
                      <a:r>
                        <a:rPr lang="de-DE" b="0" dirty="0" err="1"/>
                        <a:t>Temperature_celsius</a:t>
                      </a:r>
                      <a:endParaRPr lang="de-DE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Temperatur in °C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2652142"/>
                  </a:ext>
                </a:extLst>
              </a:tr>
              <a:tr h="294018">
                <a:tc>
                  <a:txBody>
                    <a:bodyPr/>
                    <a:lstStyle/>
                    <a:p>
                      <a:r>
                        <a:rPr lang="de-DE" b="0" dirty="0" err="1"/>
                        <a:t>Visibility_km</a:t>
                      </a:r>
                      <a:endParaRPr lang="de-DE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Sichtweite in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6319790"/>
                  </a:ext>
                </a:extLst>
              </a:tr>
              <a:tr h="452753">
                <a:tc>
                  <a:txBody>
                    <a:bodyPr/>
                    <a:lstStyle/>
                    <a:p>
                      <a:r>
                        <a:rPr lang="de-DE" dirty="0" err="1"/>
                        <a:t>Air_quality</a:t>
                      </a:r>
                      <a:r>
                        <a:rPr lang="de-DE" dirty="0"/>
                        <a:t>_*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Verschiedene Werte zur Luftqualität inkl. der Feinstaubbelastung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04874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0548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C3F4B4-06D7-7DBA-BB59-AE445377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Zielsetzung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401481-EE6B-19EE-11F9-E1FEC40CB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i="1" dirty="0"/>
              <a:t>Regionale und saisonale Auffälligkeiten in Deutschland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Wie verändert sich das Wetterprofil in Deutschland im Jahresverlauf und lassen sich klare saisonale Muster erkennen?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0" indent="0">
              <a:buNone/>
            </a:pPr>
            <a:r>
              <a:rPr lang="de-DE" i="1" dirty="0"/>
              <a:t>Globale &amp; Extremwetter orientierte Analysen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de-DE" dirty="0"/>
              <a:t>Welche Orte weltweit weisen extreme Temperatur- und Luft-</a:t>
            </a:r>
            <a:r>
              <a:rPr lang="de-DE" dirty="0" err="1"/>
              <a:t>verschmutzungsprofile</a:t>
            </a:r>
            <a:r>
              <a:rPr lang="de-DE" dirty="0"/>
              <a:t> auf und welche Wetterfaktoren stehen damit in Zusammenhang?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CB9238-5394-44EE-6759-43D85A77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30.01.2026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23E2B0C-1F89-9797-2C03-8AC5225C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B23FC05-53F7-EA00-5D2E-F0AE76A9B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019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58E24E-207D-CDD6-9676-9357C4AB8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Datenbereinigung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5182F1-A6C5-F5E3-7070-CB34517F27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Ausschließliche Verwendung von Ländern mit</a:t>
            </a:r>
          </a:p>
          <a:p>
            <a:r>
              <a:rPr lang="de-DE" dirty="0"/>
              <a:t>Vollständigen Daten im Jahr 2025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Deutschland</a:t>
            </a:r>
          </a:p>
          <a:p>
            <a:r>
              <a:rPr lang="de-DE" dirty="0"/>
              <a:t>Kategorisierung kalendarisch in</a:t>
            </a:r>
          </a:p>
          <a:p>
            <a:pPr lvl="1"/>
            <a:r>
              <a:rPr lang="de-DE" dirty="0"/>
              <a:t>Winter		21. Dezember 2024 bis 19. März 2025</a:t>
            </a:r>
          </a:p>
          <a:p>
            <a:pPr lvl="1"/>
            <a:r>
              <a:rPr lang="de-DE" dirty="0"/>
              <a:t>Frühling		20. März 2025 bis 20. Juni 2025</a:t>
            </a:r>
          </a:p>
          <a:p>
            <a:pPr lvl="1"/>
            <a:r>
              <a:rPr lang="de-DE" dirty="0"/>
              <a:t>Sommer		21. Juni 2025 bis 21. September 2025</a:t>
            </a:r>
          </a:p>
          <a:p>
            <a:pPr lvl="1"/>
            <a:r>
              <a:rPr lang="de-DE" dirty="0"/>
              <a:t>Herbst		22. September bis 20. Dezember 2025</a:t>
            </a:r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7ADA460-BAD0-E004-043E-1CD64C482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30.01.2026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C125295-D3C8-1B41-C5E3-E6212FC0A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32672B4-35C3-3CE3-CB96-B5D340336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570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C2AE73-769B-9821-0511-68B108A35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Korrelationen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D8EFE5-6A43-073B-1E37-C721F2F95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292B01D-24F2-F5E5-5FE6-E61D49A50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30.01.2026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40BC024-0627-8D9E-B948-47142679C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29C4F0D-99DD-1390-D4E4-630AB338C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535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29E841-C60C-7246-0B58-48E6EF76F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Komplexe Abfragen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66ABC0D-9049-BF5F-3DED-17FF665035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1267946-51AF-147B-19A7-93A3CB4C4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30.01.2026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5D5BD9-CB9B-1EFB-E9E8-27FF4A3F1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67CF1D6-F5E9-2FF1-86C5-505F14234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9026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" descr="Add-In-Inhalt für Microsoft Power BI.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96125359"/>
                  </p:ext>
                </p:extLst>
              </p:nvPr>
            </p:nvGraphicFramePr>
            <p:xfrm>
              <a:off x="0" y="1"/>
              <a:ext cx="12192000" cy="6858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2" name="Add-in" descr="Add-In-Inhalt fü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1"/>
                <a:ext cx="12192000" cy="685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118595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32ADF1-F79D-E6DE-EC2C-0CCEE33F3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Fazit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FCECF97-35EB-82CF-9471-0A278FD22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>
                <a:solidFill>
                  <a:srgbClr val="00B050"/>
                </a:solidFill>
              </a:rPr>
              <a:t>Datensatz sehr gut geeignet zum Lernen von</a:t>
            </a:r>
          </a:p>
          <a:p>
            <a:pPr lvl="1"/>
            <a:r>
              <a:rPr lang="de-DE" dirty="0">
                <a:solidFill>
                  <a:srgbClr val="00B050"/>
                </a:solidFill>
              </a:rPr>
              <a:t>Umgang mit MySQL</a:t>
            </a:r>
          </a:p>
          <a:p>
            <a:pPr lvl="1"/>
            <a:r>
              <a:rPr lang="de-DE" dirty="0">
                <a:solidFill>
                  <a:srgbClr val="00B050"/>
                </a:solidFill>
              </a:rPr>
              <a:t>Datenanalyse mit KNIME</a:t>
            </a:r>
          </a:p>
          <a:p>
            <a:pPr lvl="1"/>
            <a:r>
              <a:rPr lang="de-DE" dirty="0">
                <a:solidFill>
                  <a:srgbClr val="00B050"/>
                </a:solidFill>
              </a:rPr>
              <a:t>Erstellen von Vorhersagemodellen</a:t>
            </a:r>
          </a:p>
          <a:p>
            <a:pPr lvl="1"/>
            <a:r>
              <a:rPr lang="de-DE" dirty="0">
                <a:solidFill>
                  <a:srgbClr val="00B050"/>
                </a:solidFill>
              </a:rPr>
              <a:t>Visualisierung / Analyse mit Power BI</a:t>
            </a:r>
          </a:p>
          <a:p>
            <a:pPr marL="457200" lvl="1" indent="0">
              <a:buNone/>
            </a:pPr>
            <a:endParaRPr lang="de-DE" dirty="0"/>
          </a:p>
          <a:p>
            <a:r>
              <a:rPr lang="de-DE" dirty="0">
                <a:solidFill>
                  <a:srgbClr val="FF0000"/>
                </a:solidFill>
              </a:rPr>
              <a:t>Datensatz schlecht oder nicht geeignet für</a:t>
            </a:r>
          </a:p>
          <a:p>
            <a:pPr lvl="1"/>
            <a:r>
              <a:rPr lang="de-DE" dirty="0">
                <a:solidFill>
                  <a:srgbClr val="FF0000"/>
                </a:solidFill>
              </a:rPr>
              <a:t>Tiefgreifende Analysen zu</a:t>
            </a:r>
          </a:p>
          <a:p>
            <a:pPr lvl="2"/>
            <a:r>
              <a:rPr lang="de-DE" dirty="0">
                <a:solidFill>
                  <a:srgbClr val="FF0000"/>
                </a:solidFill>
              </a:rPr>
              <a:t>Feuchtigkeit und Niederschlag</a:t>
            </a:r>
          </a:p>
          <a:p>
            <a:pPr lvl="2"/>
            <a:r>
              <a:rPr lang="de-DE" dirty="0">
                <a:solidFill>
                  <a:srgbClr val="FF0000"/>
                </a:solidFill>
              </a:rPr>
              <a:t>Umweltverschmutzung durch Feuerwerke / Waldbrände etc.</a:t>
            </a:r>
          </a:p>
          <a:p>
            <a:pPr lvl="2"/>
            <a:r>
              <a:rPr lang="de-DE" dirty="0">
                <a:solidFill>
                  <a:srgbClr val="FF0000"/>
                </a:solidFill>
              </a:rPr>
              <a:t>Langzeitanalysen zum Wetter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4540AC-39CA-E7E8-135D-914C5B709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30.01.2026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89CA39-8321-F0C4-5E59-FB8B7C89A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D5B02D2-3DCE-B83F-B227-8BE1EA75C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4100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LE_NAME_PARSED_KEY" val="TRU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webextension1.xml><?xml version="1.0" encoding="utf-8"?>
<we:webextension xmlns:we="http://schemas.microsoft.com/office/webextensions/webextension/2010/11" id="{0eac3912-035f-4a7c-892e-12cb62346fc8}">
  <we:reference id="WA200003233" version="2.0.0.3" store="de-DE" storeType="OMEX"/>
  <we:alternateReferences/>
  <we:properties>
    <we:property name="Microsoft.Office.CampaignId" value="&quot;none&quot;"/>
    <we:property name="artifactViewState" value="&quot;live&quot;"/>
    <we:property name="backgroundColor" value="&quot;#FFFFFF&quot;"/>
    <we:property name="bookmark" value="&quot;H4sIAAAAAAAAA+VY32/bNhD+Vwo9rYAxSKJ+mH1L3LQPy4JgGfoyBMaJPMksaFGgqMRO4P99R8pZU6+tmwxuk+yNPB3v7ruPJx55G0nVdxrWZ7DE6E10ij3eoBILbF8l0SRqRzGrY8iSLJdQCJaImIs0pa+mc8q0ffTmNnJgG3QfVD+A9rZI+NflJAKtz6Hxsxp0j5OoQ9ubFrS6wVGZPjk74GYS4arTxoI3eeHAoTd7Reo0pxCSXxl5BOHUFV6gcKOU5SnyuGJ5lZScs0TyOia1flQIkX1RxZsO7memdaBacuNlaQIMY1FNqxxQsCkkce3lvWobvQ3409o/151PjsOVq8zK56P6SI69pc2GAAkex6XAmpVxncWFmPJE+tW10m7rsFqfrDpLuaIMjtZmhLwxVgnyFHJisR9TcBvNjB6WYXTymfzCDFbgHxhiPWmdcmuy1FVqLszQOquwn18rt5jXg9bzNE7zyMd3bg3REXRHvXUQL8z1zCKFQcHGm0uSfBM+3AwWf4fuc/x3VJGPj/fI2KJbB8Q/As5lYALSuuA1j3khqoynpUSJe5k4klfQCsrCLg1HTWOxAbednvwEjt4N7bYE0kdQJsDKXbqMlWiPR2LeKntXYelkB8dTA+8ZnkRlXuZc8jyv6jxh2TSd8vrZEexwSUNwVE9zgbpXQ7+DN/nBZJ+Br+HR8Ay0GPQ/STmFthno104eJPif3/2V0fHp0dlvv7wm8fZgea9ROWzJ7au3lKdFLxatci66I5BL5GWdQMZZxmvBK14UL5BA9mIJzDMpi4KxDMsyFQXUU/78frH7CcxeLIEZdXUFi3lesCSrGeNZmj07ArURwec8NK7/y5NyTwpGsiUrRV6kGaO2FPI0F3nGngzZSTzX5hp7N79XjwTbWC2vlcRdxHDVzJeqvaf9leKN/70DJgdqvB+K4T804JquLzM99EQcyjHSmVlWZrYA675z8yYH3ryHpHRzeZjLxuMpHC8dIkHgION0mtDNT/gqmz6lGluoZvFARmC1n5Ev9KgHLLKHgfjJVXboI+KgpB6wzB5L4lhnvM5KRteFPKc7vkymMqkh2vdoAyH+48E5im/n5SZY/SSJlmib0MuawfUdCDyHFgPaboxKYdCj7QzUX8nt2IYmjXouO/r/AHrwrsNLWBScUEiq0rhngX8fi0JYHvDmb5Spky60EwAA&quot;"/>
    <we:property name="creatorSessionId" value="&quot;3750dfa8-a1bf-4a49-9af8-ead35b5efc5d&quot;"/>
    <we:property name="creatorTenantId" value="&quot;7db25319-c04d-4699-88f4-84306cdd3f56&quot;"/>
    <we:property name="creatorUserId" value="&quot;1003200552DD16A3&quot;"/>
    <we:property name="datasetId" value="&quot;a4825fab-f32a-4358-aacf-34a6b7aed4a1&quot;"/>
    <we:property name="design" value="{&quot;border&quot;:{&quot;isActive&quot;:true,&quot;color&quot;:&quot;#808080&quot;,&quot;width&quot;:1,&quot;transparency&quot;:0,&quot;dash&quot;:&quot;solid&quot;}}"/>
    <we:property name="embedUrl" value="&quot;/reportEmbed?reportId=6cc6ad6e-eac0-4d54-981a-d449ef8bdc94&amp;config=eyJjbHVzdGVyVXJsIjoiaHR0cHM6Ly9XQUJJLUdFUk1BTlktV0VTVC1DRU5UUkFMLVBSSU1BUlktcmVkaXJlY3QuYW5hbHlzaXMud2luZG93cy5uZXQiLCJlbWJlZEZlYXR1cmVzIjp7InVzYWdlTWV0cmljc1ZOZXh0Ijp0cnVlfX0%3D&amp;disableSensitivityBanner=true&amp;storytellingChangeViewModeShortcutKeys=true&quot;"/>
    <we:property name="initialStateBookmark" value="&quot;H4sIAAAAAAAAA+VYTW/cNhD9K4FOLbAIRFFfzM3eODnUNYw4yKUwhBE50jLgigJF2bs29r93JK0bZ5t2Yxeb2O5NGo1m3pvHEYe6DZTuWgPrM1hi8CY4xQ5vUMsFNq9YMAuayYw8jZApkTIQuVQlCzNOT23rtW264M1t4MHV6D/prgczxCLjH5ezAIw5h3q4q8B0OAtadJ1twOgbnJzpkXc9bmYBrlpjHQwhLzx4HMJekTvdEwT2esgI0usrvEDpJytPIhRhyZOSZUJwgliF5NZNDiOyb7oMocf0c9t40A2lGWwRA46hLPMyAZQ8BxZWg73TTW22gL+8+3HdDsXxuPKlXQ31KD9T4iHSZkOEpAjDTGLFs7CKw1Tmgqnh7Uobv01Yrk9WraNaUQWnaHNiXlunJWUaa+Kwm0pwG8yt6Zfj1clX9gvbO4kfcMR60njt1xSpLXUhbd94p7ErrrVfFFVvTBGFURIM+M6dJTlG38lvPZoX9nrukGAQ2HBzSZZ/pQ83vcPfof2a/51UlOPzPTG27NYj4x9B53JUAqIqFZUIRSrLWESZQoV7lThSV9BIqsKuDEd17bAGv709+QkaveubbQtEj5BMglO7clmn0B1PwrzV7q7DotkOj6dGflB4FmRJlgglkqSsEsbjPMpF9ewE9rikS/DUT4VE0+m+2+HLfrDYZzD08BR4Dkb25q+inEJT9/RppwwKho/f/TeD49Ojs99++ZXM243lvUHtsaG0r95SnRadXDTa++BOQKFQZBWDWPBYVFKUIk1foID8xQqYxEqlKecxZlkkU6hy8fw+sfsFjF+sgHEoZMpDkaScxRXnIo7iZyegsXLMWYyD6/9yp9xTgklsxTOZpFHMaSyFJEpkEvMnIzYLC2OvsfPFvX4k2tYZda0V7jKGq7pY6uae9z80b/j3FTA70OD9UA7/YQA3dHyZm74j4VBNSOd2Wdr5Apz/zsXLDrx4Dynp5vIwh43HSzgdOiRDEKDCKGd08pNDl+VPqccWul48UBFY7VfkGzPqAZvsYSR+cpcdeos4qKgHbLPHijj1majijNNxIUnojK9YrlgFwb6fNjDiP+69J3w7f27GqF8swRJdPc6ytvddCxLPocGRbTuh0jj60XIGmq/U9tqNQxrNXG7K/wlMP/4vcv3AiXIQIl0a/E7/ie/mT0jYcS2zEwAA&quot;"/>
    <we:property name="isFiltersActionButtonVisible" value="true"/>
    <we:property name="isVisualContainerHeaderHidden" value="false"/>
    <we:property name="pageDisplayName" value="&quot;Weltweit&quot;"/>
    <we:property name="pageName" value="&quot;352e90b35b179931d9f0&quot;"/>
    <we:property name="reportEmbeddedTime" value="&quot;2026-01-30T15:31:11.000Z&quot;"/>
    <we:property name="reportName" value="&quot;Abschlussarbeit_Bericht&quot;"/>
    <we:property name="reportState" value="&quot;CONNECTED&quot;"/>
    <we:property name="reportUrl" value="&quot;/groups/me/reports/6cc6ad6e-eac0-4d54-981a-d449ef8bdc94/352e90b35b179931d9f0?bookmarkGuid=a07cbc58-1955-4421-9135-5abbba83350a&amp;bookmarkUsage=1&amp;ctid=7db25319-c04d-4699-88f4-84306cdd3f56&amp;fromEntryPoint=export&amp;pbi_source=storytelling_addin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5" ma:contentTypeDescription="Create a new document." ma:contentTypeScope="" ma:versionID="aba17d7263e5a17e1efe42a3571abb41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e4e3c9c8ed1c3d723d02c9f1cb24d19a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  <xsd:element ref="ns2:MediaServiceEventHashCode" minOccurs="0"/>
                <xsd:element ref="ns2:MediaServiceGenerationTim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17AB1FA-2F28-4684-9230-02ACEB6C0B0A}">
  <ds:schemaRefs>
    <ds:schemaRef ds:uri="http://purl.org/dc/elements/1.1/"/>
    <ds:schemaRef ds:uri="http://schemas.microsoft.com/office/2006/metadata/properties"/>
    <ds:schemaRef ds:uri="b1e4d6ee-9f6f-43f8-a618-24f3d84da28f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f577acbf-5b0b-4b4f-9948-268e97f8d3a4"/>
    <ds:schemaRef ds:uri="http://purl.org/dc/dcmitype/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DD29C39-1C4E-4B06-A1F4-2510F2DACF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368</Words>
  <Application>Microsoft Office PowerPoint</Application>
  <PresentationFormat>Breitbild</PresentationFormat>
  <Paragraphs>99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Calibri Light</vt:lpstr>
      <vt:lpstr>Office Theme</vt:lpstr>
      <vt:lpstr>Abschlussarbeit MySQL</vt:lpstr>
      <vt:lpstr>Inhaltsverzeichnis</vt:lpstr>
      <vt:lpstr>Einführung in den Datensatz</vt:lpstr>
      <vt:lpstr>Einführung in den Datensatz</vt:lpstr>
      <vt:lpstr>Zielsetzung</vt:lpstr>
      <vt:lpstr>Datenbereinigung</vt:lpstr>
      <vt:lpstr>Korrelationen</vt:lpstr>
      <vt:lpstr>Komplexe Abfragen</vt:lpstr>
      <vt:lpstr>PowerPoint-Präsentation</vt:lpstr>
      <vt:lpstr>Fazit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Frank Wünsch</cp:lastModifiedBy>
  <cp:revision>4</cp:revision>
  <dcterms:created xsi:type="dcterms:W3CDTF">2018-06-07T21:39:02Z</dcterms:created>
  <dcterms:modified xsi:type="dcterms:W3CDTF">2026-01-30T18:30:25Z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