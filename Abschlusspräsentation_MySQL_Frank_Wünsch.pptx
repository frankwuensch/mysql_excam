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56" r:id="rId13"/>
    <p:sldId id="266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659A6A-A089-466E-B199-728E62D76EAC}" v="155" dt="2026-01-30T18:29:38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02" d="100"/>
          <a:sy n="102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8604D7-B149-4CBE-B78F-4BADEB5073F2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D733F-C062-43F8-A268-64F0CEE536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1060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052B1-BD61-421F-A1DA-FDD7F43536D7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D6E7-A48C-4424-B592-37C7B13B8FC0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8205-406A-4507-9625-45CB6BE1106E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8128-4535-4048-83F7-BDA6F1969AC1}" type="datetime1">
              <a:rPr lang="de-DE" smtClean="0"/>
              <a:t>31.01.2026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F379-9101-4C9D-88C3-C7F8A5AF0689}" type="datetime1">
              <a:rPr lang="de-DE" smtClean="0"/>
              <a:t>31.01.2026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5DBDF-0D89-4019-8FD6-4FC0A4BF2CB6}" type="datetime1">
              <a:rPr lang="de-DE" smtClean="0"/>
              <a:t>31.01.2026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5928-6455-4327-9B81-75CC8615A8CE}" type="datetime1">
              <a:rPr lang="de-DE" smtClean="0"/>
              <a:t>31.01.2026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4E6B-3535-47A9-9B19-077E52398501}" type="datetime1">
              <a:rPr lang="de-DE" smtClean="0"/>
              <a:t>31.01.2026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1626F-68EC-4B02-AD8D-2E5F851E62A0}" type="datetime1">
              <a:rPr lang="de-DE" smtClean="0"/>
              <a:t>31.01.2026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BEBE4-4FCC-4EA8-BDD5-5B3DAC9ABBD4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CD70-EED3-455B-8CC4-948292EB368F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B0A0C-0502-4005-9A69-FFD78D14F989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Abschlussarbeit MySQL - Frank Wünsch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elgiriyewithana/global-weather-repositor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4E15DD-9C4F-0CC7-D0F6-284F458C5F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Abschlussarbeit</a:t>
            </a:r>
            <a:br>
              <a:rPr lang="de-DE" dirty="0"/>
            </a:br>
            <a:r>
              <a:rPr lang="de-DE" dirty="0"/>
              <a:t>MySQL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703C44-32D3-348B-D278-6E76ED013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21310"/>
          </a:xfrm>
        </p:spPr>
        <p:txBody>
          <a:bodyPr/>
          <a:lstStyle/>
          <a:p>
            <a:r>
              <a:rPr lang="de-DE" dirty="0"/>
              <a:t>Im Auftrag von</a:t>
            </a:r>
          </a:p>
          <a:p>
            <a:r>
              <a:rPr lang="de-DE" sz="3200" dirty="0"/>
              <a:t>Data Smart Point GmbH</a:t>
            </a:r>
          </a:p>
          <a:p>
            <a:r>
              <a:rPr lang="de-D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--------------------------------</a:t>
            </a:r>
          </a:p>
          <a:p>
            <a:r>
              <a:rPr lang="de-DE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Frank Wünsch</a:t>
            </a:r>
          </a:p>
          <a:p>
            <a:r>
              <a:rPr lang="de-D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--------------------------------</a:t>
            </a:r>
          </a:p>
          <a:p>
            <a:endParaRPr lang="de-D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583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9AA39-FB07-D771-7D7F-D7D7BD185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AB562E-750F-6FD7-C819-31966055E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DE" dirty="0"/>
              <a:t>Einführung in den Datensatz</a:t>
            </a:r>
          </a:p>
          <a:p>
            <a:pPr marL="514350" indent="-514350">
              <a:buAutoNum type="arabicPeriod"/>
            </a:pPr>
            <a:r>
              <a:rPr lang="de-DE" dirty="0"/>
              <a:t>Zielsetzung</a:t>
            </a:r>
          </a:p>
          <a:p>
            <a:pPr marL="514350" indent="-514350">
              <a:buAutoNum type="arabicPeriod"/>
            </a:pPr>
            <a:r>
              <a:rPr lang="de-DE" dirty="0"/>
              <a:t>Datenbereinigung</a:t>
            </a:r>
          </a:p>
          <a:p>
            <a:pPr marL="514350" indent="-514350">
              <a:buAutoNum type="arabicPeriod"/>
            </a:pPr>
            <a:r>
              <a:rPr lang="de-DE" dirty="0"/>
              <a:t>Korrelationen</a:t>
            </a:r>
          </a:p>
          <a:p>
            <a:pPr marL="514350" indent="-514350">
              <a:buAutoNum type="arabicPeriod"/>
            </a:pPr>
            <a:r>
              <a:rPr lang="de-DE" dirty="0"/>
              <a:t>Komplexe Abfragen</a:t>
            </a:r>
          </a:p>
          <a:p>
            <a:pPr marL="514350" indent="-514350">
              <a:buAutoNum type="arabicPeriod"/>
            </a:pPr>
            <a:r>
              <a:rPr lang="de-DE" dirty="0"/>
              <a:t>Visualisierung der Ergebnisse</a:t>
            </a:r>
          </a:p>
          <a:p>
            <a:pPr marL="514350" indent="-514350">
              <a:buAutoNum type="arabicPeriod"/>
            </a:pPr>
            <a:r>
              <a:rPr lang="de-DE" dirty="0"/>
              <a:t>Fazit</a:t>
            </a:r>
          </a:p>
          <a:p>
            <a:pPr marL="514350" indent="-514350">
              <a:buAutoNum type="arabicPeriod"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2B24FC-380B-308B-F1D9-ECE89BD3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17E4-C383-4D8C-9298-0702EEB52F70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6B01CE-8AF0-BE8A-1B8D-FE3BD0DC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01B2FF-7044-01AB-772D-BB3E18F7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31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5CE668-0220-B72E-4F98-1EEC3733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 in den Datensatz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7311A9-176B-606B-63A6-EE7977ACC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Quelle</a:t>
            </a:r>
          </a:p>
          <a:p>
            <a:pPr marL="0" indent="0">
              <a:buNone/>
            </a:pPr>
            <a:r>
              <a:rPr lang="de-DE" dirty="0"/>
              <a:t>	Kaggle.com </a:t>
            </a:r>
            <a:r>
              <a:rPr lang="de-DE" dirty="0">
                <a:hlinkClick r:id="rId2"/>
              </a:rPr>
              <a:t>World </a:t>
            </a:r>
            <a:r>
              <a:rPr lang="de-DE" dirty="0" err="1">
                <a:hlinkClick r:id="rId2"/>
              </a:rPr>
              <a:t>Weather</a:t>
            </a:r>
            <a:r>
              <a:rPr lang="de-DE" dirty="0">
                <a:hlinkClick r:id="rId2"/>
              </a:rPr>
              <a:t> Repository</a:t>
            </a:r>
            <a:r>
              <a:rPr lang="de-DE" dirty="0"/>
              <a:t> (tägliche Aktualisierung)</a:t>
            </a:r>
          </a:p>
          <a:p>
            <a:r>
              <a:rPr lang="de-DE" dirty="0"/>
              <a:t>Datenstand (Abrufdatum)</a:t>
            </a:r>
          </a:p>
          <a:p>
            <a:pPr marL="0" indent="0">
              <a:buNone/>
            </a:pPr>
            <a:r>
              <a:rPr lang="de-DE" dirty="0"/>
              <a:t>	Freitag, 23.01.2026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Inhalt</a:t>
            </a:r>
          </a:p>
          <a:p>
            <a:r>
              <a:rPr lang="de-DE" dirty="0"/>
              <a:t>Seit 29. August 2023 tägliche Updates zu Wetter- und Umweltdaten</a:t>
            </a:r>
          </a:p>
          <a:p>
            <a:r>
              <a:rPr lang="de-DE" dirty="0"/>
              <a:t>Vor allem Hauptstädte der Länder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F86978-5442-2709-7974-F93FE9D6B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D6E7-A48C-4424-B592-37C7B13B8FC0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18651A-B44A-2B5E-ADDA-6AB74529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FC2E29-EAFE-0BB2-F912-B611918C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97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920895-BA5B-D7D7-06E0-843D68E3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 in den Datensatz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858C8C-DE7F-CB92-1398-408E1BF70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Wichtigste Spalten (Gesamt: 41 Spalten)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B0AEE7-854E-4FAE-5CB3-FC72C3C44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D6E7-A48C-4424-B592-37C7B13B8FC0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D62452-91A3-1C47-CE20-E7A1B6DC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07F153-2EFA-A39D-F998-E00B5090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A2C4F397-36FB-6315-F021-3001327A8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209549"/>
              </p:ext>
            </p:extLst>
          </p:nvPr>
        </p:nvGraphicFramePr>
        <p:xfrm>
          <a:off x="838200" y="2388211"/>
          <a:ext cx="10515600" cy="374459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677998">
                  <a:extLst>
                    <a:ext uri="{9D8B030D-6E8A-4147-A177-3AD203B41FA5}">
                      <a16:colId xmlns:a16="http://schemas.microsoft.com/office/drawing/2014/main" val="1349699990"/>
                    </a:ext>
                  </a:extLst>
                </a:gridCol>
                <a:gridCol w="7837602">
                  <a:extLst>
                    <a:ext uri="{9D8B030D-6E8A-4147-A177-3AD203B41FA5}">
                      <a16:colId xmlns:a16="http://schemas.microsoft.com/office/drawing/2014/main" val="3822429309"/>
                    </a:ext>
                  </a:extLst>
                </a:gridCol>
              </a:tblGrid>
              <a:tr h="294018">
                <a:tc>
                  <a:txBody>
                    <a:bodyPr/>
                    <a:lstStyle/>
                    <a:p>
                      <a:r>
                        <a:rPr lang="de-DE" b="1" dirty="0"/>
                        <a:t>Spaltenname(n)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005188"/>
                  </a:ext>
                </a:extLst>
              </a:tr>
              <a:tr h="294018">
                <a:tc>
                  <a:txBody>
                    <a:bodyPr/>
                    <a:lstStyle/>
                    <a:p>
                      <a:r>
                        <a:rPr lang="de-DE" b="0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Land, auf das sich die Messdaten beziehen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495045"/>
                  </a:ext>
                </a:extLst>
              </a:tr>
              <a:tr h="294018">
                <a:tc>
                  <a:txBody>
                    <a:bodyPr/>
                    <a:lstStyle/>
                    <a:p>
                      <a:r>
                        <a:rPr lang="de-DE" b="0" dirty="0" err="1"/>
                        <a:t>Location_name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774808"/>
                  </a:ext>
                </a:extLst>
              </a:tr>
              <a:tr h="294018">
                <a:tc>
                  <a:txBody>
                    <a:bodyPr/>
                    <a:lstStyle/>
                    <a:p>
                      <a:r>
                        <a:rPr lang="de-DE" b="0" dirty="0"/>
                        <a:t>Latitude, </a:t>
                      </a:r>
                      <a:r>
                        <a:rPr lang="de-DE" b="0" dirty="0" err="1"/>
                        <a:t>Longitude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Längen- und Breitengrad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693577"/>
                  </a:ext>
                </a:extLst>
              </a:tr>
              <a:tr h="294018">
                <a:tc>
                  <a:txBody>
                    <a:bodyPr/>
                    <a:lstStyle/>
                    <a:p>
                      <a:r>
                        <a:rPr lang="de-DE" b="0" dirty="0" err="1"/>
                        <a:t>Wind_kph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Windgeschwindigkeit in km/h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258758"/>
                  </a:ext>
                </a:extLst>
              </a:tr>
              <a:tr h="294018">
                <a:tc>
                  <a:txBody>
                    <a:bodyPr/>
                    <a:lstStyle/>
                    <a:p>
                      <a:r>
                        <a:rPr lang="de-DE" b="0" dirty="0" err="1"/>
                        <a:t>Precip_mm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Niederschlagsmenge in mm (1 mm entspricht 1l / m²)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019933"/>
                  </a:ext>
                </a:extLst>
              </a:tr>
              <a:tr h="294018">
                <a:tc>
                  <a:txBody>
                    <a:bodyPr/>
                    <a:lstStyle/>
                    <a:p>
                      <a:r>
                        <a:rPr lang="de-DE" b="0" dirty="0" err="1"/>
                        <a:t>Humidity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Luftfeuchtigkeit in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500412"/>
                  </a:ext>
                </a:extLst>
              </a:tr>
              <a:tr h="294018">
                <a:tc>
                  <a:txBody>
                    <a:bodyPr/>
                    <a:lstStyle/>
                    <a:p>
                      <a:r>
                        <a:rPr lang="de-DE" b="0" dirty="0" err="1"/>
                        <a:t>Temperature_celsius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Temperatur in °C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652142"/>
                  </a:ext>
                </a:extLst>
              </a:tr>
              <a:tr h="294018">
                <a:tc>
                  <a:txBody>
                    <a:bodyPr/>
                    <a:lstStyle/>
                    <a:p>
                      <a:r>
                        <a:rPr lang="de-DE" b="0" dirty="0" err="1"/>
                        <a:t>Visibility_km</a:t>
                      </a:r>
                      <a:endParaRPr lang="de-D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Sichtweite in 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319790"/>
                  </a:ext>
                </a:extLst>
              </a:tr>
              <a:tr h="452753">
                <a:tc>
                  <a:txBody>
                    <a:bodyPr/>
                    <a:lstStyle/>
                    <a:p>
                      <a:r>
                        <a:rPr lang="de-DE" dirty="0" err="1"/>
                        <a:t>Air_quality</a:t>
                      </a:r>
                      <a:r>
                        <a:rPr lang="de-DE" dirty="0"/>
                        <a:t>_*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Verschiedene Werte zur Luftqualität inkl. der Feinstaubbelastung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87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0548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C3F4B4-06D7-7DBA-BB59-AE445377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Zielsetzung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401481-EE6B-19EE-11F9-E1FEC40CB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i="1" dirty="0"/>
              <a:t>Regionale und saisonale Auffälligkeiten in Deutschland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Wie verändert sich das Wetterprofil in Deutschland im Jahresverlauf und lassen sich klare saisonale Muster erkennen?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0" indent="0">
              <a:buNone/>
            </a:pPr>
            <a:r>
              <a:rPr lang="de-DE" i="1" dirty="0"/>
              <a:t>Globale &amp; Extremwetter orientierte Analysen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de-DE" dirty="0"/>
              <a:t>Welche Orte weltweit weisen extreme Temperatur- und Luft-</a:t>
            </a:r>
            <a:r>
              <a:rPr lang="de-DE" dirty="0" err="1"/>
              <a:t>verschmutzungsprofile</a:t>
            </a:r>
            <a:r>
              <a:rPr lang="de-DE" dirty="0"/>
              <a:t> auf und welche Wetterfaktoren stehen damit in Zusammenhang?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CB9238-5394-44EE-6759-43D85A77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D6E7-A48C-4424-B592-37C7B13B8FC0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3E2B0C-1F89-9797-2C03-8AC5225C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23FC05-53F7-EA00-5D2E-F0AE76A9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19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58E24E-207D-CDD6-9676-9357C4AB8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Datenbereinigung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5182F1-A6C5-F5E3-7070-CB34517F2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Ausschließliche Verwendung von Ländern mit</a:t>
            </a:r>
          </a:p>
          <a:p>
            <a:r>
              <a:rPr lang="de-DE" dirty="0"/>
              <a:t>Vollständigen Daten im Jahr 2025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Deutschland</a:t>
            </a:r>
          </a:p>
          <a:p>
            <a:r>
              <a:rPr lang="de-DE" dirty="0"/>
              <a:t>Kategorisierung kalendarisch in</a:t>
            </a:r>
          </a:p>
          <a:p>
            <a:pPr lvl="1"/>
            <a:r>
              <a:rPr lang="de-DE" dirty="0"/>
              <a:t>Winter		21. Dezember 2024 bis 19. März 2025</a:t>
            </a:r>
          </a:p>
          <a:p>
            <a:pPr lvl="1"/>
            <a:r>
              <a:rPr lang="de-DE" dirty="0"/>
              <a:t>Frühling		20. März 2025 bis 20. Juni 2025</a:t>
            </a:r>
          </a:p>
          <a:p>
            <a:pPr lvl="1"/>
            <a:r>
              <a:rPr lang="de-DE" dirty="0"/>
              <a:t>Sommer		21. Juni 2025 bis 21. September 2025</a:t>
            </a:r>
          </a:p>
          <a:p>
            <a:pPr lvl="1"/>
            <a:r>
              <a:rPr lang="de-DE" dirty="0"/>
              <a:t>Herbst		22. September bis 20. Dezember 2025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ADA460-BAD0-E004-043E-1CD64C48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D6E7-A48C-4424-B592-37C7B13B8FC0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125295-D3C8-1B41-C5E3-E6212FC0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2672B4-35C3-3CE3-CB96-B5D34033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70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2AE73-769B-9821-0511-68B108A35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Korrelationen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D8EFE5-6A43-073B-1E37-C721F2F95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92B01D-24F2-F5E5-5FE6-E61D49A5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D6E7-A48C-4424-B592-37C7B13B8FC0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0BC024-0627-8D9E-B948-47142679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9C4F0D-99DD-1390-D4E4-630AB338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35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29E841-C60C-7246-0B58-48E6EF76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Komplexe Abfragen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6ABC0D-9049-BF5F-3DED-17FF66503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267946-51AF-147B-19A7-93A3CB4C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D6E7-A48C-4424-B592-37C7B13B8FC0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5D5BD9-CB9B-1EFB-E9E8-27FF4A3F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7CF1D6-F5E9-2FF1-86C5-505F1423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902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-Inhalt fü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6125359"/>
                  </p:ext>
                </p:extLst>
              </p:nvPr>
            </p:nvGraphicFramePr>
            <p:xfrm>
              <a:off x="0" y="1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-Inhalt fü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2ADF1-F79D-E6DE-EC2C-0CCEE33F3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Fazit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CECF97-35EB-82CF-9471-0A278FD22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>
                <a:solidFill>
                  <a:srgbClr val="00B050"/>
                </a:solidFill>
              </a:rPr>
              <a:t>Datensatz sehr gut geeignet zum Lernen von</a:t>
            </a:r>
          </a:p>
          <a:p>
            <a:pPr lvl="1"/>
            <a:r>
              <a:rPr lang="de-DE" dirty="0">
                <a:solidFill>
                  <a:srgbClr val="00B050"/>
                </a:solidFill>
              </a:rPr>
              <a:t>Umgang mit MySQL</a:t>
            </a:r>
          </a:p>
          <a:p>
            <a:pPr lvl="1"/>
            <a:r>
              <a:rPr lang="de-DE" dirty="0">
                <a:solidFill>
                  <a:srgbClr val="00B050"/>
                </a:solidFill>
              </a:rPr>
              <a:t>Datenanalyse mit KNIME</a:t>
            </a:r>
          </a:p>
          <a:p>
            <a:pPr lvl="1"/>
            <a:r>
              <a:rPr lang="de-DE" dirty="0">
                <a:solidFill>
                  <a:srgbClr val="00B050"/>
                </a:solidFill>
              </a:rPr>
              <a:t>Erstellen von Vorhersagemodellen</a:t>
            </a:r>
          </a:p>
          <a:p>
            <a:pPr lvl="1"/>
            <a:r>
              <a:rPr lang="de-DE" dirty="0">
                <a:solidFill>
                  <a:srgbClr val="00B050"/>
                </a:solidFill>
              </a:rPr>
              <a:t>Visualisierung / Analyse mit Power BI</a:t>
            </a:r>
          </a:p>
          <a:p>
            <a:pPr marL="457200" lvl="1" indent="0">
              <a:buNone/>
            </a:pPr>
            <a:endParaRPr lang="de-DE" dirty="0"/>
          </a:p>
          <a:p>
            <a:r>
              <a:rPr lang="de-DE" dirty="0">
                <a:solidFill>
                  <a:srgbClr val="FF0000"/>
                </a:solidFill>
              </a:rPr>
              <a:t>Datensatz schlecht oder nicht geeignet für</a:t>
            </a:r>
          </a:p>
          <a:p>
            <a:pPr lvl="1"/>
            <a:r>
              <a:rPr lang="de-DE" dirty="0">
                <a:solidFill>
                  <a:srgbClr val="FF0000"/>
                </a:solidFill>
              </a:rPr>
              <a:t>Tiefgreifende Analysen zu</a:t>
            </a:r>
          </a:p>
          <a:p>
            <a:pPr lvl="2"/>
            <a:r>
              <a:rPr lang="de-DE" dirty="0">
                <a:solidFill>
                  <a:srgbClr val="FF0000"/>
                </a:solidFill>
              </a:rPr>
              <a:t>Feuchtigkeit und Niederschlag</a:t>
            </a:r>
          </a:p>
          <a:p>
            <a:pPr lvl="2"/>
            <a:r>
              <a:rPr lang="de-DE" dirty="0">
                <a:solidFill>
                  <a:srgbClr val="FF0000"/>
                </a:solidFill>
              </a:rPr>
              <a:t>Umweltverschmutzung durch Feuerwerke / Waldbrände etc.</a:t>
            </a:r>
          </a:p>
          <a:p>
            <a:pPr lvl="2"/>
            <a:r>
              <a:rPr lang="de-DE" dirty="0">
                <a:solidFill>
                  <a:srgbClr val="FF0000"/>
                </a:solidFill>
              </a:rPr>
              <a:t>Langzeitanalysen zum Wetter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4540AC-39CA-E7E8-135D-914C5B709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D6E7-A48C-4424-B592-37C7B13B8FC0}" type="datetime1">
              <a:rPr lang="de-DE" smtClean="0"/>
              <a:t>31.01.2026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89CA39-8321-F0C4-5E59-FB8B7C89A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Abschlussarbeit MySQL - Frank Wünsch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5B02D2-3DCE-B83F-B227-8BE1EA75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10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0eac3912-035f-4a7c-892e-12cb62346fc8}">
  <we:reference id="WA200003233" version="2.0.0.3" store="de-DE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Y32/cNgz+Vwo/bcBhsC3/Ut+Sa7aHZUGwDH0ZggMtUT4VOtuQ5SSX4P73UfJlTW9tb8lwbZK9STRF8uMnWpTuIqmH3sD6DFYYvY1OccBb1GKJ7ZskmkXtJM4rWWEqK6jzBFSmVFohfe16p7t2iN7eRQ5sg+69HkYw3hYJ/7ycRWDMOTR+psAMOIt6tEPXgtG3OCnTJ2dH3MwivOlNZ8GbvHDg0Ju9InWaUwjJT4w8gnD6Ci9QuEnK8hR5XLO8TkrOWSK5ikltmBRCZJ9V8aaD+3nXOtAtufGyNAGGsairOgcUrIIkVl4+6LYx24A/rv1j3fvkOLxxdXfj81F/IMfe0mZDgASP41KgYmWssrgQFU+kX620cVuH9frkpreUK8rgZG1OyJvOakGeQk4sDlMK7qJ5Z8ZVGJ18Ir/oRivwdwyxnrROuzVZ6mu9EN3YOqtxWFxrt1yo0ZhFGqd55OM7tx3REXQnvXUQL7vruUUKg4KNN5ck+Sp8uB0t/gb9p/jvqSIfHx6QsUW3Doi/BZzLwASkquCKx7wQdcbTUqLEvUwcyStoBWVhl4ajprHYgNtOT74DRz+P7bYE0idQJsDKXbo6K9EeT8S80/a+wtLZDo7nBt4zPIvKvMy55HleqzxhWZVWXL04gh2uaAiO6mkh0Ax6HHbwJt+Y7DPwNTwZnoMRo/k7KafQNiP92smDBP/ze7gyOj49Ovv1hx9JvD1YfjGoHbbk9s07ytNyEMtWOxfdE8gl8lIlkHGWcSV4zYviFRLIXi2BeSZlUTCWYVmmogBV8Zf3i91PYPZqCcxiLgoW87xgSaYY41mavTgCTSeCz0VoXP+XJ+WeFExkS1aKvEgzRm0p5Gku8ow9G7KTeGG6axzc4kE9EuzOGnmtJe4ihqtmsdLtA+0vFG/8zx0wO1Dj/VgM/6EBN3R9mZtxIOJQTpHOu1XdzZdg3b/cvMmBN+8hKd1cHuay8XQKp0uHSBA4yDitErr5CV9l1XOqsaVulo9kBG72M/KZHvWARfY4EN+5yg59RByU1AOW2VNJnOqMq6xkdF3Ic7rjy6SSiYJo36MNhPiPR+covp2Xm2D1oyRaoW1CL9uNbuhB4Dm0GND2U1Qagx5tZ6D+Sm7HNjRp1HPZyf97MKN3HV7CouCEQtK1wT0L/PtYFMLygDd/AfgszyG0EwAA&quot;"/>
    <we:property name="creatorSessionId" value="&quot;3750dfa8-a1bf-4a49-9af8-ead35b5efc5d&quot;"/>
    <we:property name="creatorTenantId" value="&quot;7db25319-c04d-4699-88f4-84306cdd3f56&quot;"/>
    <we:property name="creatorUserId" value="&quot;1003200552DD16A3&quot;"/>
    <we:property name="datasetId" value="&quot;a4825fab-f32a-4358-aacf-34a6b7aed4a1&quot;"/>
    <we:property name="design" value="{&quot;border&quot;:{&quot;isActive&quot;:true,&quot;color&quot;:&quot;#808080&quot;,&quot;width&quot;:1,&quot;transparency&quot;:0,&quot;dash&quot;:&quot;solid&quot;}}"/>
    <we:property name="embedUrl" value="&quot;/reportEmbed?reportId=6cc6ad6e-eac0-4d54-981a-d449ef8bdc94&amp;config=eyJjbHVzdGVyVXJsIjoiaHR0cHM6Ly9XQUJJLUdFUk1BTlktV0VTVC1DRU5UUkFMLVBSSU1BUlktcmVkaXJlY3QuYW5hbHlzaXMud2luZG93cy5uZXQiLCJlbWJlZEZlYXR1cmVzIjp7InVzYWdlTWV0cmljc1ZOZXh0Ijp0cnVlfX0%3D&amp;disableSensitivityBanner=true&amp;storytellingChangeViewModeShortcutKeys=true&quot;"/>
    <we:property name="initialStateBookmark" value="&quot;H4sIAAAAAAAAA+VY32/cNgz+Vwo/bcChsCz/Ut+Sa9qHZUHQFH0ZAoOWaJ8KnWXIcnKX4P730fZlTW/drslwbZK9STRN8uMnSpRuA6W71sD6DJYYvAlOscMb1HKBzSsWzIJmEmMYqyphKZOVYCJKZBrl9NW2XtumC97cBh5cjf6T7nowgy0S/nE5C8CYc6iHWQWmw1nQoutsA0bf4KRMn7zrcTMLcNUa62AweeHB42D2itRpTiGw15w8gvT6Ci9Q+knKkwhFWPKkZJkQnClRhaTWTQpjZN9UGUyP7ue28aAbcjPIIgYcQ1nmZQIoeQ4srAZ5p5vabAP+8u/HdTskx+PKl3Y15KP8TI4HS5sNAZIiDDOJFc/CKg5TmQumhr8rbfzWYbk+WbWOckUZnKzNCXltnZbkacyJw25KwW0wt6ZfjqOTr+QXtncSP+AY60njtV+TpbbUhbR9453GrrjWflFUvTFFFEZJMMR37izRMepOeutRvLDXc4cUBgUbbi5J8q/w4aZ3+Du0X+O/o4p8fL5HxhbdekT8I+BcjkxAVKWiEqFIZRmLKFOocC8TR+oKGklZ2KXhqK4d1uC305OfwNG7vtmWQPQIyiQ4tUuXdQrd8UTMW+3uKiya7eB4auAHhmdBlmSJUCJJStqmeJxHuaieHcEelzQET/VUSDSd7rsdvOwHk30GQw1PhudgZG/+SsopNHVPWzt5UDBsfvf/DI5Pj85+++VXEm8PlvcGtceG3L56S3ladHLRaO+DOwKFQpFVDGLBY1FJUYo0fYEE8hdLYBIrlaacx5hlkUyhysXz22L3Exi/WALjUMiUhyJJOYsrzkUcxc+OQGPl6LMYG9f/5Um5JwUT2YpnMkmjmFNbCgk19EnMnwzZLCyMvcbOF/fqkWBbZ9S1VriLGK7qYqmbe9r/ULzh31fA7ECN90Mx/IcG3ND1ZW76johDNUU6t8vSzhfg/HcuXnbgxXtISjeXh7lsPJ7C6dIhGYIAFUY5o5ufHKosf0o1ttD14oGMwGo/I9/oUQ9YZA8D8ZOr7NBHxEFJPWCZPZbEqc5EFWecrgtJQnd8xXLFKgj2PdrAGP9x7z3Ft/NyM1r9IgmW6Oqxl7W971qQeA4NjmjbKSqNox4tZ6D+Sm3HbmzSqOdyk/9PYPrxvcj1AybyQRHp0uB36k94N38CJXKryrMTAAA=&quot;"/>
    <we:property name="isFiltersActionButtonVisible" value="true"/>
    <we:property name="isVisualContainerHeaderHidden" value="false"/>
    <we:property name="pageDisplayName" value="&quot;Weltweit&quot;"/>
    <we:property name="pageName" value="&quot;352e90b35b179931d9f0&quot;"/>
    <we:property name="reportEmbeddedTime" value="&quot;2026-01-30T15:31:11.000Z&quot;"/>
    <we:property name="reportName" value="&quot;Abschlussarbeit_Bericht&quot;"/>
    <we:property name="reportState" value="&quot;CONNECTED&quot;"/>
    <we:property name="reportUrl" value="&quot;/groups/me/reports/6cc6ad6e-eac0-4d54-981a-d449ef8bdc94/352e90b35b179931d9f0?bookmarkGuid=a07cbc58-1955-4421-9135-5abbba83350a&amp;bookmarkUsage=1&amp;ctid=7db25319-c04d-4699-88f4-84306cdd3f56&amp;fromEntryPoint=export&amp;pbi_source=storytelling_addin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</Words>
  <Application>Microsoft Office PowerPoint</Application>
  <PresentationFormat>Breitbild</PresentationFormat>
  <Paragraphs>99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Theme</vt:lpstr>
      <vt:lpstr>Abschlussarbeit MySQL</vt:lpstr>
      <vt:lpstr>Inhaltsverzeichnis</vt:lpstr>
      <vt:lpstr>Einführung in den Datensatz</vt:lpstr>
      <vt:lpstr>Einführung in den Datensatz</vt:lpstr>
      <vt:lpstr>Zielsetzung</vt:lpstr>
      <vt:lpstr>Datenbereinigung</vt:lpstr>
      <vt:lpstr>Korrelationen</vt:lpstr>
      <vt:lpstr>Komplexe Abfragen</vt:lpstr>
      <vt:lpstr>PowerPoint-Präsentation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Frank Wünsch</cp:lastModifiedBy>
  <cp:revision>7</cp:revision>
  <dcterms:created xsi:type="dcterms:W3CDTF">2018-06-07T21:39:02Z</dcterms:created>
  <dcterms:modified xsi:type="dcterms:W3CDTF">2026-01-31T10:09:20Z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