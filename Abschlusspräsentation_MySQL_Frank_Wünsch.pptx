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webextensions/webextension1.xml" ContentType="application/vnd.ms-office.webextension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5"/>
  </p:notesMasterIdLst>
  <p:sldIdLst>
    <p:sldId id="258" r:id="rId5"/>
    <p:sldId id="259" r:id="rId6"/>
    <p:sldId id="260" r:id="rId7"/>
    <p:sldId id="261" r:id="rId8"/>
    <p:sldId id="262" r:id="rId9"/>
    <p:sldId id="263" r:id="rId10"/>
    <p:sldId id="264" r:id="rId11"/>
    <p:sldId id="256" r:id="rId12"/>
    <p:sldId id="266" r:id="rId13"/>
    <p:sldId id="267" r:id="rId14"/>
  </p:sldIdLst>
  <p:sldSz cx="12192000" cy="6858000"/>
  <p:notesSz cx="6858000" cy="9144000"/>
  <p:custDataLst>
    <p:tags r:id="rId1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4E"/>
    <a:srgbClr val="E5393D"/>
    <a:srgbClr val="05D801"/>
    <a:srgbClr val="FFB57D"/>
    <a:srgbClr val="FC9E14"/>
    <a:srgbClr val="F4F8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659A6A-A089-466E-B199-728E62D76EAC}" v="155" dt="2026-01-30T18:29:38.4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 varScale="1">
        <p:scale>
          <a:sx n="61" d="100"/>
          <a:sy n="61" d="100"/>
        </p:scale>
        <p:origin x="73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8604D7-B149-4CBE-B78F-4BADEB5073F2}" type="datetimeFigureOut">
              <a:rPr lang="de-DE" smtClean="0"/>
              <a:t>03.02.2026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5D733F-C062-43F8-A268-64F0CEE536B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060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FB57D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052B1-BD61-421F-A1DA-FDD7F43536D7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38205-406A-4507-9625-45CB6BE1106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5A8128-4535-4048-83F7-BDA6F1969AC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2F379-9101-4C9D-88C3-C7F8A5AF06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55DBDF-0D89-4019-8FD6-4FC0A4BF2CB6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35928-6455-4327-9B81-75CC8615A8CE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A4E6B-3535-47A9-9B19-077E52398501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1626F-68EC-4B02-AD8D-2E5F851E62A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6BEBE4-4FCC-4EA8-BDD5-5B3DAC9ABBD4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solidFill>
                  <a:srgbClr val="FF994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9CD70-EED3-455B-8CC4-948292EB368F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3B0A0C-0502-4005-9A69-FFD78D14F989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Abschlussarbeit MySQL - Frank Wünsch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C9E14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elgiriyewithana/global-weather-repository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E15DD-9C4F-0CC7-D0F6-284F458C5F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Abschlussarbeit</a:t>
            </a:r>
            <a:br>
              <a:rPr lang="de-DE" dirty="0"/>
            </a:br>
            <a:r>
              <a:rPr lang="de-DE" dirty="0"/>
              <a:t>MySQL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E703C44-32D3-348B-D278-6E76ED013E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921310"/>
          </a:xfrm>
        </p:spPr>
        <p:txBody>
          <a:bodyPr/>
          <a:lstStyle/>
          <a:p>
            <a:endParaRPr lang="de-DE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r>
              <a:rPr lang="de-DE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Frank Wünsch</a:t>
            </a:r>
          </a:p>
          <a:p>
            <a:r>
              <a:rPr lang="de-D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--------------------------------</a:t>
            </a:r>
          </a:p>
          <a:p>
            <a:endParaRPr lang="de-D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583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9AA39-FB07-D771-7D7F-D7D7BD185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B562E-750F-6FD7-C819-31966055E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de-DE" dirty="0"/>
              <a:t>Einführung in den Datensatz</a:t>
            </a:r>
          </a:p>
          <a:p>
            <a:pPr marL="514350" indent="-514350">
              <a:buAutoNum type="arabicPeriod"/>
            </a:pPr>
            <a:r>
              <a:rPr lang="de-DE" dirty="0"/>
              <a:t>Zielsetzung</a:t>
            </a:r>
          </a:p>
          <a:p>
            <a:pPr marL="514350" indent="-514350">
              <a:buAutoNum type="arabicPeriod"/>
            </a:pPr>
            <a:r>
              <a:rPr lang="de-DE" dirty="0"/>
              <a:t>Datenbereinigung</a:t>
            </a:r>
          </a:p>
          <a:p>
            <a:pPr marL="514350" indent="-514350">
              <a:buAutoNum type="arabicPeriod"/>
            </a:pPr>
            <a:r>
              <a:rPr lang="de-DE" dirty="0"/>
              <a:t>Korrelationen</a:t>
            </a:r>
          </a:p>
          <a:p>
            <a:pPr marL="514350" indent="-514350">
              <a:buAutoNum type="arabicPeriod"/>
            </a:pPr>
            <a:r>
              <a:rPr lang="de-DE" dirty="0"/>
              <a:t>Visualisierung der Ergebnisse</a:t>
            </a:r>
          </a:p>
          <a:p>
            <a:pPr marL="514350" indent="-514350">
              <a:buAutoNum type="arabicPeriod"/>
            </a:pPr>
            <a:r>
              <a:rPr lang="de-DE" dirty="0"/>
              <a:t>Fazit</a:t>
            </a:r>
          </a:p>
          <a:p>
            <a:pPr marL="514350" indent="-514350">
              <a:buAutoNum type="arabicPeriod"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B24FC-380B-308B-F1D9-ECE89BD3B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D17E4-C383-4D8C-9298-0702EEB52F7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6B01CE-8AF0-BE8A-1B8D-FE3BD0DCE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01B2FF-7044-01AB-772D-BB3E18F7E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9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5CE668-0220-B72E-4F98-1EEC3733B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7311A9-176B-606B-63A6-EE7977ACC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Quelle</a:t>
            </a:r>
          </a:p>
          <a:p>
            <a:pPr marL="0" indent="0">
              <a:buNone/>
            </a:pPr>
            <a:r>
              <a:rPr lang="de-DE" dirty="0"/>
              <a:t>	Kaggle.com </a:t>
            </a:r>
            <a:r>
              <a:rPr lang="de-DE" dirty="0">
                <a:hlinkClick r:id="rId2"/>
              </a:rPr>
              <a:t>World Weather Repository</a:t>
            </a:r>
            <a:r>
              <a:rPr lang="de-DE" dirty="0"/>
              <a:t> (tägliche Aktualisierung)</a:t>
            </a:r>
          </a:p>
          <a:p>
            <a:r>
              <a:rPr lang="de-DE" dirty="0"/>
              <a:t>Datenstand (Abrufdatum)</a:t>
            </a:r>
          </a:p>
          <a:p>
            <a:pPr marL="0" indent="0">
              <a:buNone/>
            </a:pPr>
            <a:r>
              <a:rPr lang="de-DE" dirty="0"/>
              <a:t>	Freitag, 23.01.2026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Inhalt</a:t>
            </a:r>
          </a:p>
          <a:p>
            <a:r>
              <a:rPr lang="de-DE" dirty="0"/>
              <a:t>Seit 29. August 2023 tägliche Updates zu Wetter- und Umweltdaten</a:t>
            </a:r>
          </a:p>
          <a:p>
            <a:r>
              <a:rPr lang="de-DE" dirty="0"/>
              <a:t>Vor allem Hauptstädte der Länder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FF86978-5442-2709-7974-F93FE9D6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818651A-B44A-2B5E-ADDA-6AB745297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C2E29-EAFE-0BB2-F912-B611918C1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9197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920895-BA5B-D7D7-06E0-843D68E38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Einführung in den Datensatz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BB0AEE7-854E-4FAE-5CB3-FC72C3C44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D62452-91A3-1C47-CE20-E7A1B6DC6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807F153-2EFA-A39D-F998-E00B5090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4</a:t>
            </a:fld>
            <a:endParaRPr lang="en-US" dirty="0"/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95C010C0-8F52-0D86-E355-CF4FF22AAB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8153400" cy="4195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4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C3F4B4-06D7-7DBA-BB59-AE445377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Zielsetzung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401481-EE6B-19EE-11F9-E1FEC40C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Regionale und saisonale Auffälligkeiten in Deutschland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Wie verändert sich das Wetterprofil in Deutschland im Jahresverlauf und lassen sich klare saisonale Muster erkennen?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0" indent="0">
              <a:buNone/>
            </a:pPr>
            <a:r>
              <a:rPr lang="de-DE" i="1" dirty="0">
                <a:ln>
                  <a:solidFill>
                    <a:srgbClr val="FF994E"/>
                  </a:solidFill>
                </a:ln>
                <a:solidFill>
                  <a:srgbClr val="FFB57D"/>
                </a:solidFill>
              </a:rPr>
              <a:t>Globale &amp; Extremwetter orientierte Analysen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de-DE" dirty="0"/>
              <a:t>Welche Orte weltweit weisen extreme Temperatur- und Luft-verschmutzungsprofile auf und welche Wetterfaktoren stehen damit in Zusammenhang?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CB9238-5394-44EE-6759-43D85A77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23E2B0C-1F89-9797-2C03-8AC5225C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23FC05-53F7-EA00-5D2E-F0AE76A9B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5</a:t>
            </a:fld>
            <a:endParaRPr lang="en-US" dirty="0"/>
          </a:p>
        </p:txBody>
      </p:sp>
      <p:pic>
        <p:nvPicPr>
          <p:cNvPr id="10" name="Grafik 9" descr="Volltreffer Silhouette">
            <a:extLst>
              <a:ext uri="{FF2B5EF4-FFF2-40B4-BE49-F238E27FC236}">
                <a16:creationId xmlns:a16="http://schemas.microsoft.com/office/drawing/2014/main" id="{9D2231CA-982A-4F66-F230-07525E68DD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00573" y="5707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019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58E24E-207D-CDD6-9676-9357C4AB8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Datenbereinigung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5182F1-A6C5-F5E3-7070-CB34517F27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Ausschließliche Verwendung von Ländern mit</a:t>
            </a:r>
          </a:p>
          <a:p>
            <a:r>
              <a:rPr lang="de-DE" dirty="0"/>
              <a:t>Vollständigen Daten im </a:t>
            </a:r>
            <a:r>
              <a:rPr lang="de-DE" b="1" dirty="0"/>
              <a:t>Jahr 2025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Deutschland</a:t>
            </a:r>
          </a:p>
          <a:p>
            <a:r>
              <a:rPr lang="de-DE" dirty="0"/>
              <a:t>Kategorisierung kalendarisch in</a:t>
            </a:r>
          </a:p>
          <a:p>
            <a:pPr lvl="1"/>
            <a:r>
              <a:rPr lang="de-DE" dirty="0"/>
              <a:t>Winter		21. Dezember 2024 bis 19. März 2025</a:t>
            </a:r>
          </a:p>
          <a:p>
            <a:pPr lvl="1"/>
            <a:r>
              <a:rPr lang="de-DE" dirty="0"/>
              <a:t>Frühling		20. März 2025 bis 20. Juni 2025</a:t>
            </a:r>
          </a:p>
          <a:p>
            <a:pPr lvl="1"/>
            <a:r>
              <a:rPr lang="de-DE" dirty="0"/>
              <a:t>Sommer		21. Juni 2025 bis 21. September 2025</a:t>
            </a:r>
          </a:p>
          <a:p>
            <a:pPr lvl="1"/>
            <a:r>
              <a:rPr lang="de-DE" dirty="0"/>
              <a:t>Herbst		22. September bis 20. Dezember 2025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ADA460-BAD0-E004-043E-1CD64C482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25295-D3C8-1B41-C5E3-E6212FC0A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32672B4-35C3-3CE3-CB96-B5D340336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6</a:t>
            </a:fld>
            <a:endParaRPr lang="en-US" dirty="0"/>
          </a:p>
        </p:txBody>
      </p:sp>
      <p:pic>
        <p:nvPicPr>
          <p:cNvPr id="10" name="Grafik 9" descr="Eimer und Wischmopp Silhouette">
            <a:extLst>
              <a:ext uri="{FF2B5EF4-FFF2-40B4-BE49-F238E27FC236}">
                <a16:creationId xmlns:a16="http://schemas.microsoft.com/office/drawing/2014/main" id="{E83BC10A-6E59-6FC9-3458-44D077A16E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67800" y="1893888"/>
            <a:ext cx="914400" cy="914400"/>
          </a:xfrm>
          <a:prstGeom prst="rect">
            <a:avLst/>
          </a:prstGeom>
        </p:spPr>
      </p:pic>
      <p:pic>
        <p:nvPicPr>
          <p:cNvPr id="12" name="Grafik 11" descr="Tageskalender Silhouette">
            <a:extLst>
              <a:ext uri="{FF2B5EF4-FFF2-40B4-BE49-F238E27FC236}">
                <a16:creationId xmlns:a16="http://schemas.microsoft.com/office/drawing/2014/main" id="{F09F6FD4-C909-F126-F75F-588F009979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67800" y="47053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5708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2AE73-769B-9821-0511-68B108A35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Korrelationen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92B01D-24F2-F5E5-5FE6-E61D49A5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BC024-0627-8D9E-B948-47142679C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C4F0D-99DD-1390-D4E4-630AB338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7</a:t>
            </a:fld>
            <a:endParaRPr lang="en-US" dirty="0"/>
          </a:p>
        </p:txBody>
      </p:sp>
      <p:pic>
        <p:nvPicPr>
          <p:cNvPr id="7" name="Grafik 6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C86CF18-D31E-1ABC-6720-211149950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10393343" cy="4225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453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-Inhalt für Microsoft Power BI.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0515379"/>
                  </p:ext>
                </p:extLst>
              </p:nvPr>
            </p:nvGraphicFramePr>
            <p:xfrm>
              <a:off x="0" y="0"/>
              <a:ext cx="12192000" cy="6419850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-Inhalt fü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64198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32ADF1-F79D-E6DE-EC2C-0CCEE33F3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Fazit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FCECF97-35EB-82CF-9471-0A278FD22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Datensatz sehr gut geeignet zum Lernen von</a:t>
            </a:r>
          </a:p>
          <a:p>
            <a:pPr lvl="1"/>
            <a:r>
              <a:rPr lang="de-DE" dirty="0"/>
              <a:t>Umgang mit MySQL</a:t>
            </a:r>
          </a:p>
          <a:p>
            <a:pPr lvl="1"/>
            <a:r>
              <a:rPr lang="de-DE" dirty="0"/>
              <a:t>Datenanalyse mit KNIME</a:t>
            </a:r>
          </a:p>
          <a:p>
            <a:pPr lvl="1"/>
            <a:r>
              <a:rPr lang="de-DE" dirty="0"/>
              <a:t>Erstellen von Vorhersagemodellen</a:t>
            </a:r>
          </a:p>
          <a:p>
            <a:pPr lvl="1"/>
            <a:r>
              <a:rPr lang="de-DE" dirty="0"/>
              <a:t>Visualisierung / Analyse mit Power BI</a:t>
            </a:r>
          </a:p>
          <a:p>
            <a:pPr marL="457200" lvl="1" indent="0">
              <a:buNone/>
            </a:pPr>
            <a:endParaRPr lang="de-DE" dirty="0"/>
          </a:p>
          <a:p>
            <a:r>
              <a:rPr lang="de-DE" dirty="0"/>
              <a:t>Datensatz schlecht oder nicht geeignet für</a:t>
            </a:r>
          </a:p>
          <a:p>
            <a:pPr lvl="1"/>
            <a:r>
              <a:rPr lang="de-DE" dirty="0"/>
              <a:t>Tiefgreifende Analysen zu</a:t>
            </a:r>
          </a:p>
          <a:p>
            <a:pPr lvl="2"/>
            <a:r>
              <a:rPr lang="de-DE" dirty="0"/>
              <a:t>Feuchtigkeit und Niederschlag</a:t>
            </a:r>
          </a:p>
          <a:p>
            <a:pPr lvl="2"/>
            <a:r>
              <a:rPr lang="de-DE" dirty="0"/>
              <a:t>Umweltverschmutzung durch Feuerwerke / Waldbrände etc.</a:t>
            </a:r>
          </a:p>
          <a:p>
            <a:pPr lvl="2"/>
            <a:r>
              <a:rPr lang="de-DE" dirty="0"/>
              <a:t>Langzeitanalysen zum Wetter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4540AC-39CA-E7E8-135D-914C5B709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89CA39-8321-F0C4-5E59-FB8B7C89A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D5B02D2-3DCE-B83F-B227-8BE1EA75C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9</a:t>
            </a:fld>
            <a:endParaRPr lang="en-US" dirty="0"/>
          </a:p>
        </p:txBody>
      </p:sp>
      <p:pic>
        <p:nvPicPr>
          <p:cNvPr id="10" name="Grafik 9" descr="Daumen hoch-Zeichen mit einfarbiger Füllung">
            <a:extLst>
              <a:ext uri="{FF2B5EF4-FFF2-40B4-BE49-F238E27FC236}">
                <a16:creationId xmlns:a16="http://schemas.microsoft.com/office/drawing/2014/main" id="{0FDEF281-3D5A-4512-71B0-0C6F816D9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34525" y="2063749"/>
            <a:ext cx="1819275" cy="1819275"/>
          </a:xfrm>
          <a:prstGeom prst="rect">
            <a:avLst/>
          </a:prstGeom>
        </p:spPr>
      </p:pic>
      <p:pic>
        <p:nvPicPr>
          <p:cNvPr id="12" name="Grafik 11" descr="Daumen runter mit einfarbiger Füllung">
            <a:extLst>
              <a:ext uri="{FF2B5EF4-FFF2-40B4-BE49-F238E27FC236}">
                <a16:creationId xmlns:a16="http://schemas.microsoft.com/office/drawing/2014/main" id="{EFF7F61E-9C47-E8CB-5BA5-2B13D6A5E7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34525" y="4171951"/>
            <a:ext cx="1824037" cy="1824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410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713F6D-A6FE-3D8E-5E3C-891573451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Vielen Dank für die Aufmerksamkeit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0D54EE-9129-DB2C-393C-6108FC857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AD6E7-A48C-4424-B592-37C7B13B8FC0}" type="datetime1">
              <a:rPr lang="de-DE" smtClean="0"/>
              <a:t>03.02.2026</a:t>
            </a:fld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826D1E-D36C-4163-B620-71CE89CBC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Abschlussarbeit MySQL - Frank Wünsch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8798F6-4076-A8A2-2832-456894E99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37FE0CB6-59C4-A1BB-1E0F-35D3FE4FC868}"/>
              </a:ext>
            </a:extLst>
          </p:cNvPr>
          <p:cNvGrpSpPr/>
          <p:nvPr/>
        </p:nvGrpSpPr>
        <p:grpSpPr>
          <a:xfrm>
            <a:off x="2063345" y="1690688"/>
            <a:ext cx="8065310" cy="4381500"/>
            <a:chOff x="838199" y="1623217"/>
            <a:chExt cx="8065310" cy="4381500"/>
          </a:xfrm>
        </p:grpSpPr>
        <p:pic>
          <p:nvPicPr>
            <p:cNvPr id="12" name="Grafik 11" descr="Junger Geschäftsmann schreibt auf Notepad">
              <a:extLst>
                <a:ext uri="{FF2B5EF4-FFF2-40B4-BE49-F238E27FC236}">
                  <a16:creationId xmlns:a16="http://schemas.microsoft.com/office/drawing/2014/main" id="{BB9B5DF9-AF96-E207-E90E-6A7FBE1EF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27114" y="1623217"/>
              <a:ext cx="1376395" cy="4381500"/>
            </a:xfrm>
            <a:prstGeom prst="rect">
              <a:avLst/>
            </a:prstGeom>
          </p:spPr>
        </p:pic>
        <p:pic>
          <p:nvPicPr>
            <p:cNvPr id="18" name="Grafik 17" descr="Fragen mit einfarbiger Füllung">
              <a:extLst>
                <a:ext uri="{FF2B5EF4-FFF2-40B4-BE49-F238E27FC236}">
                  <a16:creationId xmlns:a16="http://schemas.microsoft.com/office/drawing/2014/main" id="{51EBC60E-CD38-08FE-197E-9B75D8BB3A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38199" y="1694655"/>
              <a:ext cx="4238625" cy="42386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2901485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webextension1.xml><?xml version="1.0" encoding="utf-8"?>
<we:webextension xmlns:we="http://schemas.microsoft.com/office/webextensions/webextension/2010/11" id="{0eac3912-035f-4a7c-892e-12cb62346fc8}">
  <we:reference id="WA200003233" version="2.0.0.3" store="de-DE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VYTW/cNhD9K4FODbAoJFFfzM3eODnUNYy6yKUwhBE50jLgigJF2bs29r93RK0bZ5tkYxeb2O5NGo3mzZvHEYe6DaTqOw3rM1hi8CY4xR5vUIkFtq+iYBa0k1lAxHMZMywQQsmyPGMpPTWdU6btgze3gQPboPug+gH0GIuMf13OAtD6HJrxrgbd4yzo0PamBa1ucHKmR84OuJkFuOq0sTCGvHDgcAx7Re50TylEvzJCBOHUFV6gcJOVpTHysGJpFeWcs0jyOiS3fnLwmX3RZQzt4eemdaBaghltcQQMQ1EVVQooWAFRWI/2XrWN3ib86d0/191YHIcrV5nVWI/qIwGPkTYbIiR4GOYCa5aHdRJmouCRHN+ulXZbwGp9suos1YoqOEWbE/PGWCUIydfEYj+V4DaYGz0s/dXJZ/YLM1iBf6DP9aR1yq0pUlepUpihdVZhX14rtyjrQesyDuM0GPM7t4bk8L6T39qbF+Z6bpHSoGTDzSVZvkkfbgaLv0P3Of87qQjj4z0xtuzWnvGPoHPplYC4znjNQ56JKuFxLlHiXiWO5BW0gqqwK8NR01hswG1vT36CRu+GdtsC8SMkE2DlrlzGSrTHkzBvlb3rsHi2w+OpkR8VngV5mqdc8jSt6jRiSREXvH52Ajtc0iU46qdSoO7V0O/wjX6w2Gcw9vAUeA5aDPqfopxC2wz0aScECePH7/6bwfHp0dlvv7wm83Zjea9ROWwJ9tVbqtOiF4tWORfcCcgl8ryOIOEs4bXgFc+yFygge7ECpomUWcZYgnkeiwzqgj+/T+x+AZMXK2AScpGxkKcZi5KaMZ7EybMTUBvhMUs/uP4vd8o9JZjEliwXaRYnjMZSSONUpAl7MmJHYanNNfauvNePRNtYLa+VxF3GcNWUS9Xe8/5K84b/XgGzAw3eD+XwHwZwTceXuR56Eg7llOncLCszX4B137l4owMv3kNKurk8zGHj8RJOhw4RIXCQYVxEdPITY5cVT6nHFqpZPFARWO1X5Asz6gGb7GEkfnKXHXqLOKioB2yzx4o49Rmvk5zRcSFN6Ywvo0JGNQT7ftqAz/94cI7y2/lz46N+sgRLtI2fZc3g+g4EnkOLnm03ZaXQ+9FyBpqv5Pba+iGNZi474X8APYzQ/k9Y4GFGApu/AW7DpKWEEwAA&quot;"/>
    <we:property name="creatorSessionId" value="&quot;3750dfa8-a1bf-4a49-9af8-ead35b5efc5d&quot;"/>
    <we:property name="creatorTenantId" value="&quot;7db25319-c04d-4699-88f4-84306cdd3f56&quot;"/>
    <we:property name="creatorUserId" value="&quot;1003200552DD16A3&quot;"/>
    <we:property name="datasetId" value="&quot;a4825fab-f32a-4358-aacf-34a6b7aed4a1&quot;"/>
    <we:property name="design" value="{&quot;border&quot;:{&quot;isActive&quot;:true,&quot;color&quot;:&quot;#808080&quot;,&quot;width&quot;:1,&quot;transparency&quot;:0,&quot;dash&quot;:&quot;solid&quot;}}"/>
    <we:property name="embedUrl" value="&quot;/reportEmbed?reportId=6cc6ad6e-eac0-4d54-981a-d449ef8bdc94&amp;config=eyJjbHVzdGVyVXJsIjoiaHR0cHM6Ly9XQUJJLUdFUk1BTlktV0VTVC1DRU5UUkFMLVBSSU1BUlktcmVkaXJlY3QuYW5hbHlzaXMud2luZG93cy5uZXQiLCJlbWJlZEZlYXR1cmVzIjp7InVzYWdlTWV0cmljc1ZOZXh0Ijp0cnVlfX0%3D&amp;disableSensitivityBanner=true&amp;storytellingChangeViewModeShortcutKeys=true&quot;"/>
    <we:property name="initialStateBookmark" value="&quot;H4sIAAAAAAAAA+VY32/bNhD+Vwo9bYAxSKJ+mH1zXG8P+dGgGfoyBMKJPMksaEmgqCRO4P+9R8pZU6+blwxuk+xNOp3uu+8+nnTkXSBV32lYn8EKg7fBCfZ4i0ossXkTBZOgGc1H798fn84+HBdns9MFmdvOqrbpg7d3gQVTo/2o+gG0C0LGPy4nAWh9DrW7q0D3OAk6NH3bgFa3ODrTI2sG3EwCvOl0a8CFvLBg0YW9Ine6J+zoF0aIIKy6wgsUdrSyNEYeliwto5xzFkleheTWjw4+s2+6uNAeft42FlRDMM4WR8AwFOW0TAEFm0IUVs7eq6bW24S/vPv7unNVsXhjy/bG1aP8RMAu0mZDhAQPw1xgxfKwSsJMTHkk3duV0nYLWK4XN52hWlEFx2hzYl63RglC8jUx2I8luAvmrR5W/mrxlf2iHYzAD+hzXTRW2TVF6kpViHZorFHYF9fKLotq0LqIwzgNXH7npiU5vO/ot/bmZXs9N0hpULLh5pIs/0gfbgeDp9B9zf9eKsL49ECMLbu1Z/w96Fx6JSCuMl7xkGeiTHicS5S4V4mZvIJGUBV2ZZjVtcEa7PZ28QM0+nVoti0QP0EyAUbuytUaieZoFOadMvcdFk92eDw38k7hSZCnecolT9OySiOWTOMpr16cwBZXdAmW+qkQqHs19Dt8o+8s9hm4Hh4Dz0GLQf9ZlBNo6oE+7YQgwX38Hr4ZHJ3Mzo5/+pnM2z/KbxqVxYZg37yjOi17sWyUtcG9gFwiz6sIEs4SXgle8ix7hQKyVytgmkiZZYwlmOexyKCa8pf3id0vYPJqBUxCLjIW8jRjUVIxxpM4eXEC6lZ4zMJPrP/LP+WeEoxiS5aLNIsTRmMppHEq0oQ9G7GjsNDtNfa2eNCPRLs1Wl4ribuM4aouVqp54P03zRv+dQVMDjR4P5bDfxjANW1f5nroSTiUY6bzdlW28yUY+y8Xb3TgxXtISTeXh9lsPF3CcdMhIgQOMoynEe38hOuy6XPqsaWql49UBG72K/KNGfWATfY4Ej+4yw79izioqAdss6eKOPYZr5Kc0XYhTWmPL6OpjCoI9h3agM//aLCW8ts5ufFRv1iCFZraz7LtYPsOBJ5Dg55tN2al0PvRcgaar+T22vghjWYuM+J/BD04aH8SFngQSkmVGve84M7HAp+WI7z5DPUvyHetEwAA&quot;"/>
    <we:property name="isFiltersActionButtonVisible" value="true"/>
    <we:property name="isVisualContainerHeaderHidden" value="false"/>
    <we:property name="pageDisplayName" value="&quot;Weltweit&quot;"/>
    <we:property name="pageName" value="&quot;352e90b35b179931d9f0&quot;"/>
    <we:property name="reportEmbeddedTime" value="&quot;2026-01-30T15:31:11.000Z&quot;"/>
    <we:property name="reportName" value="&quot;Abschlussarbeit_Bericht&quot;"/>
    <we:property name="reportState" value="&quot;CONNECTED&quot;"/>
    <we:property name="reportUrl" value="&quot;/groups/me/reports/6cc6ad6e-eac0-4d54-981a-d449ef8bdc94/352e90b35b179931d9f0?bookmarkGuid=a07cbc58-1955-4421-9135-5abbba83350a&amp;bookmarkUsage=1&amp;ctid=7db25319-c04d-4699-88f4-84306cdd3f56&amp;fromEntryPoint=export&amp;pbi_source=storytelling_addin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279</Words>
  <Application>Microsoft Office PowerPoint</Application>
  <PresentationFormat>Breitbild</PresentationFormat>
  <Paragraphs>76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5" baseType="lpstr">
      <vt:lpstr>Aptos</vt:lpstr>
      <vt:lpstr>Arial</vt:lpstr>
      <vt:lpstr>Calibri</vt:lpstr>
      <vt:lpstr>Calibri Light</vt:lpstr>
      <vt:lpstr>Office Theme</vt:lpstr>
      <vt:lpstr>Abschlussarbeit MySQL</vt:lpstr>
      <vt:lpstr>Inhaltsverzeichnis</vt:lpstr>
      <vt:lpstr>Einführung in den Datensatz</vt:lpstr>
      <vt:lpstr>Einführung in den Datensatz</vt:lpstr>
      <vt:lpstr>Zielsetzung</vt:lpstr>
      <vt:lpstr>Datenbereinigung</vt:lpstr>
      <vt:lpstr>Korrelationen</vt:lpstr>
      <vt:lpstr>PowerPoint-Präsentation</vt:lpstr>
      <vt:lpstr>Fazit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Frank Wünsch</cp:lastModifiedBy>
  <cp:revision>44</cp:revision>
  <dcterms:created xsi:type="dcterms:W3CDTF">2018-06-07T21:39:02Z</dcterms:created>
  <dcterms:modified xsi:type="dcterms:W3CDTF">2026-02-03T13:55:42Z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