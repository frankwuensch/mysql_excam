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webextensions/webextension1.xml" ContentType="application/vnd.ms-office.webextension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5"/>
  </p:notesMasterIdLst>
  <p:sldIdLst>
    <p:sldId id="258" r:id="rId5"/>
    <p:sldId id="259" r:id="rId6"/>
    <p:sldId id="260" r:id="rId7"/>
    <p:sldId id="261" r:id="rId8"/>
    <p:sldId id="262" r:id="rId9"/>
    <p:sldId id="263" r:id="rId10"/>
    <p:sldId id="264" r:id="rId11"/>
    <p:sldId id="256" r:id="rId12"/>
    <p:sldId id="266" r:id="rId13"/>
    <p:sldId id="267" r:id="rId14"/>
  </p:sldIdLst>
  <p:sldSz cx="12192000" cy="6858000"/>
  <p:notesSz cx="6858000" cy="9144000"/>
  <p:custDataLst>
    <p:tags r:id="rId1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4E"/>
    <a:srgbClr val="E5393D"/>
    <a:srgbClr val="05D801"/>
    <a:srgbClr val="FFB57D"/>
    <a:srgbClr val="FC9E14"/>
    <a:srgbClr val="F4F8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A659A6A-A089-466E-B199-728E62D76EAC}" v="155" dt="2026-01-30T18:29:38.4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E3FDE45-AF77-4B5C-9715-49D594BDF05E}" styleName="Helle Formatvorlage 1 - Akz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Helle Formatvorlage 1 - Akz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FD0F851-EC5A-4D38-B0AD-8093EC10F338}" styleName="Helle Formatvorlage 1 - Akz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799B23B-EC83-4686-B30A-512413B5E67A}" styleName="Helle Formatvorlage 3 - Akz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51"/>
    <p:restoredTop sz="94647"/>
  </p:normalViewPr>
  <p:slideViewPr>
    <p:cSldViewPr snapToGrid="0" snapToObjects="1">
      <p:cViewPr varScale="1">
        <p:scale>
          <a:sx n="102" d="100"/>
          <a:sy n="102" d="100"/>
        </p:scale>
        <p:origin x="79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tags" Target="tags/tag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8604D7-B149-4CBE-B78F-4BADEB5073F2}" type="datetimeFigureOut">
              <a:rPr lang="de-DE" smtClean="0"/>
              <a:t>03.02.2026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5D733F-C062-43F8-A268-64F0CEE536B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810609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rgbClr val="FFB57D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052B1-BD61-421F-A1DA-FDD7F43536D7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FEA2F-4473-0948-AB43-EBE335118A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B151-747D-604F-903D-9A920F317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47E0C-8A67-AE45-9E33-B90E65F82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C27D1-B1FA-884E-BB86-6AA912AD2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0875C-8A74-6B43-8AF6-63659F8EC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932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3F97-6513-314A-BEB3-8AC3A43CEF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C1008-6364-A640-BA0B-D8775884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B27E-7D19-9148-AFBE-D10DF7C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38205-406A-4507-9625-45CB6BE1106E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7AB2F-DBDD-3343-AB56-539EF251B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2543B-D933-004D-99FF-224DE8B97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2993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5A8128-4535-4048-83F7-BDA6F1969AC1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42F379-9101-4C9D-88C3-C7F8A5AF0689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5DBDF-0D89-4019-8FD6-4FC0A4BF2CB6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A35928-6455-4327-9B81-75CC8615A8CE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9842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A4E6B-3535-47A9-9B19-077E52398501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1626F-68EC-4B02-AD8D-2E5F851E62A0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6BEBE4-4FCC-4EA8-BDD5-5B3DAC9ABBD4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 hasCustomPrompt="1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9CD70-EED3-455B-8CC4-948292EB368F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3B0A0C-0502-4005-9A69-FFD78D14F989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FC9E14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nelgiriyewithana/global-weather-repository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4E15DD-9C4F-0CC7-D0F6-284F458C5FF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Abschlussarbeit</a:t>
            </a:r>
            <a:br>
              <a:rPr lang="de-DE" dirty="0"/>
            </a:br>
            <a:r>
              <a:rPr lang="de-DE" dirty="0"/>
              <a:t>MySQL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E703C44-32D3-348B-D278-6E76ED013E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2921310"/>
          </a:xfrm>
        </p:spPr>
        <p:txBody>
          <a:bodyPr/>
          <a:lstStyle/>
          <a:p>
            <a:endParaRPr lang="de-DE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de-D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--------------------------------</a:t>
            </a:r>
          </a:p>
          <a:p>
            <a:r>
              <a:rPr lang="de-DE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Frank Wünsch</a:t>
            </a:r>
          </a:p>
          <a:p>
            <a:r>
              <a:rPr lang="de-D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--------------------------------</a:t>
            </a:r>
          </a:p>
          <a:p>
            <a:endParaRPr lang="de-DE" sz="3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25836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19AA39-FB07-D771-7D7F-D7D7BD185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Inhaltsverzeichnis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1AB562E-750F-6FD7-C819-31966055EA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de-DE" dirty="0"/>
              <a:t>Einführung in den Datensatz</a:t>
            </a:r>
          </a:p>
          <a:p>
            <a:pPr marL="514350" indent="-514350">
              <a:buAutoNum type="arabicPeriod"/>
            </a:pPr>
            <a:r>
              <a:rPr lang="de-DE" dirty="0"/>
              <a:t>Zielsetzung</a:t>
            </a:r>
          </a:p>
          <a:p>
            <a:pPr marL="514350" indent="-514350">
              <a:buAutoNum type="arabicPeriod"/>
            </a:pPr>
            <a:r>
              <a:rPr lang="de-DE" dirty="0"/>
              <a:t>Datenbereinigung</a:t>
            </a:r>
          </a:p>
          <a:p>
            <a:pPr marL="514350" indent="-514350">
              <a:buAutoNum type="arabicPeriod"/>
            </a:pPr>
            <a:r>
              <a:rPr lang="de-DE" dirty="0"/>
              <a:t>Korrelationen</a:t>
            </a:r>
          </a:p>
          <a:p>
            <a:pPr marL="514350" indent="-514350">
              <a:buAutoNum type="arabicPeriod"/>
            </a:pPr>
            <a:r>
              <a:rPr lang="de-DE" dirty="0"/>
              <a:t>Visualisierung der Ergebnisse</a:t>
            </a:r>
          </a:p>
          <a:p>
            <a:pPr marL="514350" indent="-514350">
              <a:buAutoNum type="arabicPeriod"/>
            </a:pPr>
            <a:r>
              <a:rPr lang="de-DE" dirty="0"/>
              <a:t>Fazit</a:t>
            </a:r>
          </a:p>
          <a:p>
            <a:pPr marL="514350" indent="-514350">
              <a:buAutoNum type="arabicPeriod"/>
            </a:pP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72B24FC-380B-308B-F1D9-ECE89BD3B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D17E4-C383-4D8C-9298-0702EEB52F70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46B01CE-8AF0-BE8A-1B8D-FE3BD0DCE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701B2FF-7044-01AB-772D-BB3E18F7E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5931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5CE668-0220-B72E-4F98-1EEC3733B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Einführung in den Datensatz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7311A9-176B-606B-63A6-EE7977ACCB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Quelle</a:t>
            </a:r>
          </a:p>
          <a:p>
            <a:pPr marL="0" indent="0">
              <a:buNone/>
            </a:pPr>
            <a:r>
              <a:rPr lang="de-DE" dirty="0"/>
              <a:t>	Kaggle.com </a:t>
            </a:r>
            <a:r>
              <a:rPr lang="de-DE" dirty="0">
                <a:hlinkClick r:id="rId2"/>
              </a:rPr>
              <a:t>World Weather Repository</a:t>
            </a:r>
            <a:r>
              <a:rPr lang="de-DE" dirty="0"/>
              <a:t> (tägliche Aktualisierung)</a:t>
            </a:r>
          </a:p>
          <a:p>
            <a:r>
              <a:rPr lang="de-DE" dirty="0"/>
              <a:t>Datenstand (Abrufdatum)</a:t>
            </a:r>
          </a:p>
          <a:p>
            <a:pPr marL="0" indent="0">
              <a:buNone/>
            </a:pPr>
            <a:r>
              <a:rPr lang="de-DE" dirty="0"/>
              <a:t>	Freitag, 23.01.2026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Inhalt</a:t>
            </a:r>
          </a:p>
          <a:p>
            <a:r>
              <a:rPr lang="de-DE" dirty="0"/>
              <a:t>Seit 29. August 2023 tägliche Updates zu Wetter- und Umweltdaten</a:t>
            </a:r>
          </a:p>
          <a:p>
            <a:r>
              <a:rPr lang="de-DE" dirty="0"/>
              <a:t>Vor allem Hauptstädte der Länder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FF86978-5442-2709-7974-F93FE9D6B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818651A-B44A-2B5E-ADDA-6AB745297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4FC2E29-EAFE-0BB2-F912-B611918C1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91971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920895-BA5B-D7D7-06E0-843D68E38E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Einführung in den Datensatz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BB0AEE7-854E-4FAE-5CB3-FC72C3C44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7D62452-91A3-1C47-CE20-E7A1B6DC6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807F153-2EFA-A39D-F998-E00B50909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0548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C3F4B4-06D7-7DBA-BB59-AE445377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Zielsetzung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3401481-EE6B-19EE-11F9-E1FEC40CB4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i="1" dirty="0">
                <a:ln>
                  <a:solidFill>
                    <a:srgbClr val="FF994E"/>
                  </a:solidFill>
                </a:ln>
                <a:solidFill>
                  <a:srgbClr val="FFB57D"/>
                </a:solidFill>
              </a:rPr>
              <a:t>Regionale und saisonale Auffälligkeiten in Deutschland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Wie verändert sich das Wetterprofil in Deutschland im Jahresverlauf und lassen sich klare saisonale Muster erkennen?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0" indent="0">
              <a:buNone/>
            </a:pPr>
            <a:r>
              <a:rPr lang="de-DE" i="1" dirty="0">
                <a:ln>
                  <a:solidFill>
                    <a:srgbClr val="FF994E"/>
                  </a:solidFill>
                </a:ln>
                <a:solidFill>
                  <a:srgbClr val="FFB57D"/>
                </a:solidFill>
              </a:rPr>
              <a:t>Globale &amp; Extremwetter orientierte Analysen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de-DE" dirty="0"/>
              <a:t>Welche Orte weltweit weisen extreme Temperatur- und Luft-verschmutzungsprofile auf und welche Wetterfaktoren stehen damit in Zusammenhang?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CB9238-5394-44EE-6759-43D85A77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23E2B0C-1F89-9797-2C03-8AC5225C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B23FC05-53F7-EA00-5D2E-F0AE76A9B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5</a:t>
            </a:fld>
            <a:endParaRPr lang="en-US" dirty="0"/>
          </a:p>
        </p:txBody>
      </p:sp>
      <p:pic>
        <p:nvPicPr>
          <p:cNvPr id="10" name="Grafik 9" descr="Volltreffer Silhouette">
            <a:extLst>
              <a:ext uri="{FF2B5EF4-FFF2-40B4-BE49-F238E27FC236}">
                <a16:creationId xmlns:a16="http://schemas.microsoft.com/office/drawing/2014/main" id="{9D2231CA-982A-4F66-F230-07525E68DD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00573" y="57070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019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58E24E-207D-CDD6-9676-9357C4AB8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Datenbereinigung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5182F1-A6C5-F5E3-7070-CB34517F27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Ausschließliche Verwendung von Ländern mit</a:t>
            </a:r>
          </a:p>
          <a:p>
            <a:r>
              <a:rPr lang="de-DE" dirty="0"/>
              <a:t>Vollständigen Daten im </a:t>
            </a:r>
            <a:r>
              <a:rPr lang="de-DE" b="1" dirty="0"/>
              <a:t>Jahr 2025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Deutschland</a:t>
            </a:r>
          </a:p>
          <a:p>
            <a:r>
              <a:rPr lang="de-DE" dirty="0"/>
              <a:t>Kategorisierung kalendarisch in</a:t>
            </a:r>
          </a:p>
          <a:p>
            <a:pPr lvl="1"/>
            <a:r>
              <a:rPr lang="de-DE" dirty="0"/>
              <a:t>Winter		21. Dezember 2024 bis 19. März 2025</a:t>
            </a:r>
          </a:p>
          <a:p>
            <a:pPr lvl="1"/>
            <a:r>
              <a:rPr lang="de-DE" dirty="0"/>
              <a:t>Frühling		20. März 2025 bis 20. Juni 2025</a:t>
            </a:r>
          </a:p>
          <a:p>
            <a:pPr lvl="1"/>
            <a:r>
              <a:rPr lang="de-DE" dirty="0"/>
              <a:t>Sommer		21. Juni 2025 bis 21. September 2025</a:t>
            </a:r>
          </a:p>
          <a:p>
            <a:pPr lvl="1"/>
            <a:r>
              <a:rPr lang="de-DE" dirty="0"/>
              <a:t>Herbst		22. September bis 20. Dezember 2025</a:t>
            </a:r>
          </a:p>
          <a:p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7ADA460-BAD0-E004-043E-1CD64C482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C125295-D3C8-1B41-C5E3-E6212FC0A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32672B4-35C3-3CE3-CB96-B5D340336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6</a:t>
            </a:fld>
            <a:endParaRPr lang="en-US" dirty="0"/>
          </a:p>
        </p:txBody>
      </p:sp>
      <p:pic>
        <p:nvPicPr>
          <p:cNvPr id="10" name="Grafik 9" descr="Eimer und Wischmopp Silhouette">
            <a:extLst>
              <a:ext uri="{FF2B5EF4-FFF2-40B4-BE49-F238E27FC236}">
                <a16:creationId xmlns:a16="http://schemas.microsoft.com/office/drawing/2014/main" id="{E83BC10A-6E59-6FC9-3458-44D077A16E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67800" y="1893888"/>
            <a:ext cx="914400" cy="914400"/>
          </a:xfrm>
          <a:prstGeom prst="rect">
            <a:avLst/>
          </a:prstGeom>
        </p:spPr>
      </p:pic>
      <p:pic>
        <p:nvPicPr>
          <p:cNvPr id="12" name="Grafik 11" descr="Tageskalender Silhouette">
            <a:extLst>
              <a:ext uri="{FF2B5EF4-FFF2-40B4-BE49-F238E27FC236}">
                <a16:creationId xmlns:a16="http://schemas.microsoft.com/office/drawing/2014/main" id="{F09F6FD4-C909-F126-F75F-588F009979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67800" y="47053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570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C2AE73-769B-9821-0511-68B108A35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Korrelationen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292B01D-24F2-F5E5-5FE6-E61D49A50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40BC024-0627-8D9E-B948-47142679C4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29C4F0D-99DD-1390-D4E4-630AB338C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7</a:t>
            </a:fld>
            <a:endParaRPr lang="en-US" dirty="0"/>
          </a:p>
        </p:txBody>
      </p:sp>
      <p:pic>
        <p:nvPicPr>
          <p:cNvPr id="7" name="Grafik 6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7C86CF18-D31E-1ABC-6720-211149950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328" y="1690688"/>
            <a:ext cx="10393343" cy="4225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4535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we="http://schemas.microsoft.com/office/webextensions/webextension/2010/11" xmlns:pca="http://schemas.microsoft.com/office/powerpoint/2013/contentapp">
        <mc:Choice Requires="we pca">
          <p:graphicFrame>
            <p:nvGraphicFramePr>
              <p:cNvPr id="2" name="Add-in" descr="Add-In-Inhalt für Microsoft Power BI.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30515379"/>
                  </p:ext>
                </p:extLst>
              </p:nvPr>
            </p:nvGraphicFramePr>
            <p:xfrm>
              <a:off x="0" y="0"/>
              <a:ext cx="12192000" cy="641985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2" name="Add-in" descr="Add-In-Inhalt für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12192000" cy="641985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118595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32ADF1-F79D-E6DE-EC2C-0CCEE33F3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Fazit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FCECF97-35EB-82CF-9471-0A278FD22A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Datensatz sehr gut geeignet zum Lernen von</a:t>
            </a:r>
          </a:p>
          <a:p>
            <a:pPr lvl="1"/>
            <a:r>
              <a:rPr lang="de-DE" dirty="0"/>
              <a:t>Umgang mit MySQL</a:t>
            </a:r>
          </a:p>
          <a:p>
            <a:pPr lvl="1"/>
            <a:r>
              <a:rPr lang="de-DE" dirty="0"/>
              <a:t>Datenanalyse mit KNIME</a:t>
            </a:r>
          </a:p>
          <a:p>
            <a:pPr lvl="1"/>
            <a:r>
              <a:rPr lang="de-DE" dirty="0"/>
              <a:t>Erstellen von Vorhersagemodellen</a:t>
            </a:r>
          </a:p>
          <a:p>
            <a:pPr lvl="1"/>
            <a:r>
              <a:rPr lang="de-DE" dirty="0"/>
              <a:t>Visualisierung / Analyse mit Power BI</a:t>
            </a:r>
          </a:p>
          <a:p>
            <a:pPr marL="457200" lvl="1" indent="0">
              <a:buNone/>
            </a:pPr>
            <a:endParaRPr lang="de-DE" dirty="0"/>
          </a:p>
          <a:p>
            <a:r>
              <a:rPr lang="de-DE" dirty="0"/>
              <a:t>Datensatz schlecht oder nicht geeignet für</a:t>
            </a:r>
          </a:p>
          <a:p>
            <a:pPr lvl="1"/>
            <a:r>
              <a:rPr lang="de-DE" dirty="0"/>
              <a:t>Tiefgreifende Analysen zu</a:t>
            </a:r>
          </a:p>
          <a:p>
            <a:pPr lvl="2"/>
            <a:r>
              <a:rPr lang="de-DE" dirty="0"/>
              <a:t>Feuchtigkeit und Niederschlag</a:t>
            </a:r>
          </a:p>
          <a:p>
            <a:pPr lvl="2"/>
            <a:r>
              <a:rPr lang="de-DE" dirty="0"/>
              <a:t>Umweltverschmutzung durch Feuerwerke / Waldbrände etc.</a:t>
            </a:r>
          </a:p>
          <a:p>
            <a:pPr lvl="2"/>
            <a:r>
              <a:rPr lang="de-DE" dirty="0"/>
              <a:t>Langzeitanalysen zum Wetter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74540AC-39CA-E7E8-135D-914C5B709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89CA39-8321-F0C4-5E59-FB8B7C89A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D5B02D2-3DCE-B83F-B227-8BE1EA75C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9</a:t>
            </a:fld>
            <a:endParaRPr lang="en-US" dirty="0"/>
          </a:p>
        </p:txBody>
      </p:sp>
      <p:pic>
        <p:nvPicPr>
          <p:cNvPr id="10" name="Grafik 9" descr="Daumen hoch-Zeichen mit einfarbiger Füllung">
            <a:extLst>
              <a:ext uri="{FF2B5EF4-FFF2-40B4-BE49-F238E27FC236}">
                <a16:creationId xmlns:a16="http://schemas.microsoft.com/office/drawing/2014/main" id="{0FDEF281-3D5A-4512-71B0-0C6F816D9D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34525" y="2063749"/>
            <a:ext cx="1819275" cy="1819275"/>
          </a:xfrm>
          <a:prstGeom prst="rect">
            <a:avLst/>
          </a:prstGeom>
        </p:spPr>
      </p:pic>
      <p:pic>
        <p:nvPicPr>
          <p:cNvPr id="12" name="Grafik 11" descr="Daumen runter mit einfarbiger Füllung">
            <a:extLst>
              <a:ext uri="{FF2B5EF4-FFF2-40B4-BE49-F238E27FC236}">
                <a16:creationId xmlns:a16="http://schemas.microsoft.com/office/drawing/2014/main" id="{EFF7F61E-9C47-E8CB-5BA5-2B13D6A5E7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34525" y="4171951"/>
            <a:ext cx="1824037" cy="1824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2410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713F6D-A6FE-3D8E-5E3C-891573451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dirty="0"/>
              <a:t>Vielen Dank für die Aufmerksamkeit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60D54EE-9129-DB2C-393C-6108FC857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7826D1E-D36C-4163-B620-71CE89CBC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F8798F6-4076-A8A2-2832-456894E99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10</a:t>
            </a:fld>
            <a:endParaRPr lang="en-US" dirty="0"/>
          </a:p>
        </p:txBody>
      </p: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37FE0CB6-59C4-A1BB-1E0F-35D3FE4FC868}"/>
              </a:ext>
            </a:extLst>
          </p:cNvPr>
          <p:cNvGrpSpPr/>
          <p:nvPr/>
        </p:nvGrpSpPr>
        <p:grpSpPr>
          <a:xfrm>
            <a:off x="2063345" y="1690688"/>
            <a:ext cx="8065310" cy="4381500"/>
            <a:chOff x="838199" y="1623217"/>
            <a:chExt cx="8065310" cy="4381500"/>
          </a:xfrm>
        </p:grpSpPr>
        <p:pic>
          <p:nvPicPr>
            <p:cNvPr id="12" name="Grafik 11" descr="Junger Geschäftsmann schreibt auf Notepad">
              <a:extLst>
                <a:ext uri="{FF2B5EF4-FFF2-40B4-BE49-F238E27FC236}">
                  <a16:creationId xmlns:a16="http://schemas.microsoft.com/office/drawing/2014/main" id="{BB9B5DF9-AF96-E207-E90E-6A7FBE1EFF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27114" y="1623217"/>
              <a:ext cx="1376395" cy="4381500"/>
            </a:xfrm>
            <a:prstGeom prst="rect">
              <a:avLst/>
            </a:prstGeom>
          </p:spPr>
        </p:pic>
        <p:pic>
          <p:nvPicPr>
            <p:cNvPr id="18" name="Grafik 17" descr="Fragen mit einfarbiger Füllung">
              <a:extLst>
                <a:ext uri="{FF2B5EF4-FFF2-40B4-BE49-F238E27FC236}">
                  <a16:creationId xmlns:a16="http://schemas.microsoft.com/office/drawing/2014/main" id="{51EBC60E-CD38-08FE-197E-9B75D8BB3A0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38199" y="1694655"/>
              <a:ext cx="4238625" cy="42386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2901485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LE_NAME_PARSED_KEY" val="TRU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webextension1.xml><?xml version="1.0" encoding="utf-8"?>
<we:webextension xmlns:we="http://schemas.microsoft.com/office/webextensions/webextension/2010/11" id="{0eac3912-035f-4a7c-892e-12cb62346fc8}">
  <we:reference id="WA200003233" version="2.0.0.3" store="de-DE" storeType="OMEX"/>
  <we:alternateReferences/>
  <we:properties>
    <we:property name="Microsoft.Office.CampaignId" value="&quot;none&quot;"/>
    <we:property name="artifactViewState" value="&quot;live&quot;"/>
    <we:property name="backgroundColor" value="&quot;#FFFFFF&quot;"/>
    <we:property name="bookmark" value="&quot;H4sIAAAAAAAAA+VYTW/cNhD9K4FOLbAoRFFfzM3euD3UNYy6yKUwFiNypGXAlQSKsr029r93SK0bZ5tkaxeb2O5NHI3mzZvHkYa6i5QeegPrM1hh9DY6xQFvUcsltm9YNIvayZwoyRLMmCjrUilacObvdr3TXTtEb+8iB7ZB914PIxgfi4x/Xs4iMOYcGr+qwQw4i3q0Q9eC0bc4OdMtZ0fczCK86U1nwYe8cODQh70id1pTCuwnToggnb7CC5RusvIsQRFXPKtYIQRnStQxuQ2TQ8jssy4+dICfd60D3RKMtyUMOMayKqsMUPISWFx7+6DbxmwT/vjsH+veF8fhjau6G1+P6gMB+0ibDRGSIo4LiTUv4jqNc1kKpvzTtTZuC1itT256S7WiCk7R5sS86ayWhBRqYnGYSnAXzTszrsLVySf2i260En/HkOtJ67RbU6S+0gvZja2zGofFtXbLRT0as0jiJIt8fue2IzmC7+S3DuZldz23SGlQsvHmkixfpQ+3o8XfoP+U/71UhPHhgRhbduvA+FvQuQxKQFLnohaxyGWViqRQqHCvEkfqClpJVdiV4ahpLDbgtsuT76DRz2O7bYHkCZJJsGpXrs4qtMeTMO+0ve+wZLbD47mR9wrPoiIrMqFEllV1xnhaJqWoX5zADld0CY76aSHRDHocdviybyz2GfgengLPwcjR/F2UU2ibkV7thKDAv/wePhkdnx6d/frDj2Teflh+MagdtgT75h3VaTnIZaudi+4FFApFUTNIBU9FLUUl8vwVCshfrYBZqlSec55iUSQyh7oUL+8Vu1/A9NUKmMZC5jwWWc5ZWnMu0iR9cQKaTgbMRRhc/5dfyj0lmMRWvJBZnqScxlLIkkxmKX82YrN4YbprHNziQT8S7c4ada0V7jKGq2ax0u0D7y80b/zPHTA70OD9WA7/YQA3dHyZm3Eg4VBNmc67VdXNl2Ddv9y87MCb95CSbi4Pc9h4uoTToUMyBAEqTkpGJz/pu6x8Tj221M3ykYrAzX5FPjOjHrDJHkfiO3fZoT8RBxX1gG32VBGnPhN1WnA6LmQZnfEVKxWrIdr30wZC/sejc5Tfzp+bEPWjJVqhbcIs241u6EHiObQY2PZTVhqDH21noPlKba9tGNJo5rIT/nswo4cOf8KiAOMJbP4CQaKhcYQTAAA=&quot;"/>
    <we:property name="creatorSessionId" value="&quot;3750dfa8-a1bf-4a49-9af8-ead35b5efc5d&quot;"/>
    <we:property name="creatorTenantId" value="&quot;7db25319-c04d-4699-88f4-84306cdd3f56&quot;"/>
    <we:property name="creatorUserId" value="&quot;1003200552DD16A3&quot;"/>
    <we:property name="datasetId" value="&quot;a4825fab-f32a-4358-aacf-34a6b7aed4a1&quot;"/>
    <we:property name="design" value="{&quot;border&quot;:{&quot;isActive&quot;:true,&quot;color&quot;:&quot;#808080&quot;,&quot;width&quot;:1,&quot;transparency&quot;:0,&quot;dash&quot;:&quot;solid&quot;}}"/>
    <we:property name="embedUrl" value="&quot;/reportEmbed?reportId=6cc6ad6e-eac0-4d54-981a-d449ef8bdc94&amp;config=eyJjbHVzdGVyVXJsIjoiaHR0cHM6Ly9XQUJJLUdFUk1BTlktV0VTVC1DRU5UUkFMLVBSSU1BUlktcmVkaXJlY3QuYW5hbHlzaXMud2luZG93cy5uZXQiLCJlbWJlZEZlYXR1cmVzIjp7InVzYWdlTWV0cmljc1ZOZXh0Ijp0cnVlfX0%3D&amp;disableSensitivityBanner=true&amp;storytellingChangeViewModeShortcutKeys=true&quot;"/>
    <we:property name="initialStateBookmark" value="&quot;H4sIAAAAAAAAA+VY32/bNhD+Vwo9bYAxSKJ+mH1zXG8P+dGgGfoyBMKJPMksaEmgqCRO4P+9R8pZU6+blwxuk+xNOp3uu+8+nnTkXSBV32lYn8EKg7fBCfZ4i0ossXkTBZOgGc1H798fn84+HBdns9MFmdvOqrbpg7d3gQVTo/2o+gG0C0LGPy4nAWh9DrW7q0D3OAk6NH3bgFa3ODrTI2sG3EwCvOl0a8CFvLBg0YW9Ine6J+zoF0aIIKy6wgsUdrSyNEYeliwto5xzFkleheTWjw4+s2+6uNAeft42FlRDMM4WR8AwFOW0TAEFm0IUVs7eq6bW24S/vPv7unNVsXhjy/bG1aP8RMAu0mZDhAQPw1xgxfKwSsJMTHkk3duV0nYLWK4XN52hWlEFx2hzYl63RglC8jUx2I8luAvmrR5W/mrxlf2iHYzAD+hzXTRW2TVF6kpViHZorFHYF9fKLotq0LqIwzgNXH7npiU5vO/ot/bmZXs9N0hpULLh5pIs/0gfbgeDp9B9zf9eKsL49ECMLbu1Z/w96Fx6JSCuMl7xkGeiTHicS5S4V4mZvIJGUBV2ZZjVtcEa7PZ28QM0+nVoti0QP0EyAUbuytUaieZoFOadMvcdFk92eDw38k7hSZCnecolT9OySiOWTOMpr16cwBZXdAmW+qkQqHs19Dt8o+8s9hm4Hh4Dz0GLQf9ZlBNo6oE+7YQgwX38Hr4ZHJ3Mzo5/+pnM2z/KbxqVxYZg37yjOi17sWyUtcG9gFwiz6sIEs4SXgle8ix7hQKyVytgmkiZZYwlmOexyKCa8pf3id0vYPJqBUxCLjIW8jRjUVIxxpM4eXEC6lZ4zMJPrP/LP+WeEoxiS5aLNIsTRmMppHEq0oQ9G7GjsNDtNfa2eNCPRLs1Wl4ribuM4aouVqp54P03zRv+dQVMDjR4P5bDfxjANW1f5nroSTiUY6bzdlW28yUY+y8Xb3TgxXtISTeXh9lsPF3CcdMhIgQOMoynEe38hOuy6XPqsaWql49UBG72K/KNGfWATfY4Ej+4yw79izioqAdss6eKOPYZr5Kc0XYhTWmPL6OpjCoI9h3agM//aLCW8ts5ufFRv1iCFZraz7LtYPsOBJ5Dg55tN2al0PvRcgaar+T22vghjWYuM+J/BD04aH8SFngQSkmVGve84M7HAp+WI7z5DPUvyHetEwAA&quot;"/>
    <we:property name="isFiltersActionButtonVisible" value="true"/>
    <we:property name="isVisualContainerHeaderHidden" value="false"/>
    <we:property name="pageDisplayName" value="&quot;Weltweit&quot;"/>
    <we:property name="pageName" value="&quot;352e90b35b179931d9f0&quot;"/>
    <we:property name="reportEmbeddedTime" value="&quot;2026-01-30T15:31:11.000Z&quot;"/>
    <we:property name="reportName" value="&quot;Abschlussarbeit_Bericht&quot;"/>
    <we:property name="reportState" value="&quot;CONNECTED&quot;"/>
    <we:property name="reportUrl" value="&quot;/groups/me/reports/6cc6ad6e-eac0-4d54-981a-d449ef8bdc94/352e90b35b179931d9f0?bookmarkGuid=a07cbc58-1955-4421-9135-5abbba83350a&amp;bookmarkUsage=1&amp;ctid=7db25319-c04d-4699-88f4-84306cdd3f56&amp;fromEntryPoint=export&amp;pbi_source=storytelling_addin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5" ma:contentTypeDescription="Create a new document." ma:contentTypeScope="" ma:versionID="aba17d7263e5a17e1efe42a3571abb41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e4e3c9c8ed1c3d723d02c9f1cb24d19a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  <xsd:element ref="ns2:MediaServiceEventHashCode" minOccurs="0"/>
                <xsd:element ref="ns2:MediaServiceGenerationTim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21" nillable="true" ma:displayName="MediaServiceGenerationTime" ma:hidden="true" ma:internalName="MediaServiceGenerationTim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17AB1FA-2F28-4684-9230-02ACEB6C0B0A}">
  <ds:schemaRefs>
    <ds:schemaRef ds:uri="http://purl.org/dc/elements/1.1/"/>
    <ds:schemaRef ds:uri="http://schemas.microsoft.com/office/2006/metadata/properties"/>
    <ds:schemaRef ds:uri="b1e4d6ee-9f6f-43f8-a618-24f3d84da28f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f577acbf-5b0b-4b4f-9948-268e97f8d3a4"/>
    <ds:schemaRef ds:uri="http://purl.org/dc/dcmitype/"/>
    <ds:schemaRef ds:uri="http://schemas.microsoft.com/office/infopath/2007/PartnerControl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DD29C39-1C4E-4B06-A1F4-2510F2DACF6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279</Words>
  <Application>Microsoft Office PowerPoint</Application>
  <PresentationFormat>Breitbild</PresentationFormat>
  <Paragraphs>76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5" baseType="lpstr">
      <vt:lpstr>Aptos</vt:lpstr>
      <vt:lpstr>Arial</vt:lpstr>
      <vt:lpstr>Calibri</vt:lpstr>
      <vt:lpstr>Calibri Light</vt:lpstr>
      <vt:lpstr>Office Theme</vt:lpstr>
      <vt:lpstr>Abschlussarbeit MySQL</vt:lpstr>
      <vt:lpstr>Inhaltsverzeichnis</vt:lpstr>
      <vt:lpstr>Einführung in den Datensatz</vt:lpstr>
      <vt:lpstr>Einführung in den Datensatz</vt:lpstr>
      <vt:lpstr>Zielsetzung</vt:lpstr>
      <vt:lpstr>Datenbereinigung</vt:lpstr>
      <vt:lpstr>Korrelationen</vt:lpstr>
      <vt:lpstr>PowerPoint-Präsentation</vt:lpstr>
      <vt:lpstr>Fazit</vt:lpstr>
      <vt:lpstr>Vielen Dank für die Aufmerksamkeit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Frank Wünsch</cp:lastModifiedBy>
  <cp:revision>41</cp:revision>
  <dcterms:created xsi:type="dcterms:W3CDTF">2018-06-07T21:39:02Z</dcterms:created>
  <dcterms:modified xsi:type="dcterms:W3CDTF">2026-02-03T11:13:52Z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